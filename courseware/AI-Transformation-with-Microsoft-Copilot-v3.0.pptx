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WSQ COURSE · v3.0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AI Transformation with Microsoft Copilot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</a:t>
            </a:r>
          </a:p>
        </p:txBody>
      </p:sp>
      <p:pic>
        <p:nvPicPr>
          <p:cNvPr id="8" name="Picture 7" descr="provid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1417320" cy="1417320"/>
          </a:xfrm>
          <a:prstGeom prst="rect">
            <a:avLst/>
          </a:prstGeom>
        </p:spPr>
      </p:pic>
      <p:pic>
        <p:nvPicPr>
          <p:cNvPr id="9" name="Picture 8" descr="wsq-logo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146304"/>
            <a:ext cx="2331720" cy="776503"/>
          </a:xfrm>
          <a:prstGeom prst="rect">
            <a:avLst/>
          </a:prstGeom>
        </p:spPr>
      </p:pic>
      <p:pic>
        <p:nvPicPr>
          <p:cNvPr id="10" name="Picture 9" descr="executive-strateg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828800"/>
            <a:ext cx="5303520" cy="298323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48640" y="3246120"/>
            <a:ext cx="5212080" cy="15087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100" b="1">
                <a:solidFill>
                  <a:srgbClr val="161B26"/>
                </a:solidFill>
                <a:latin typeface="Arial"/>
              </a:defRPr>
            </a:pPr>
            <a:r>
              <a:t>Microsoft 365 Copilot → Workflows → Agents → measurable business outcomes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61B26"/>
                </a:solidFill>
                <a:latin typeface="Arial"/>
              </a:defRPr>
            </a:pPr>
            <a:r>
              <a:t>WSQ Course Code: TGS-2024044051   |   3 days · 24 hours   |   28 September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5778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5B6372"/>
                </a:solidFill>
                <a:latin typeface="Arial"/>
              </a:defRPr>
            </a:pPr>
            <a:r>
              <a:t>Conducted by Tertiary Infotech Academy Pte Ltd · UEN 201200696W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7161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Informed by Microsoft AB-730 business use and AB-731 transformation leadership · This WSQ course is not Microsoft exam preparation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Digital attendance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Open TRAQOM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60520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61688" y="2057400"/>
            <a:ext cx="3447288" cy="16002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Scan SSG QR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08976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10144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Confirm own attendance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251960"/>
            <a:ext cx="10287000" cy="8686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TRAQOM / SSG QR attendance must be completed as directed by the trainer.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General trainer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783080"/>
            <a:ext cx="10058400" cy="4160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08760" y="2331720"/>
            <a:ext cx="1965960" cy="1965960"/>
          </a:xfrm>
          <a:prstGeom prst="ellipse">
            <a:avLst/>
          </a:prstGeom>
          <a:solidFill>
            <a:srgbClr val="ECFAF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500" b="1"/>
            </a:pPr>
            <a: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103120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GENERAL TRAINER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2834640"/>
            <a:ext cx="6309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61B26"/>
                </a:solidFill>
                <a:latin typeface="Arial"/>
              </a:defRPr>
            </a:pPr>
            <a:r>
              <a:t>Name: __________________________</a:t>
            </a:r>
            <a:br/>
            <a:r>
              <a:t>Role: ____________________________</a:t>
            </a:r>
            <a:br/>
            <a:r>
              <a:t>Relevant experience: ______________</a:t>
            </a:r>
            <a:br/>
            <a:r>
              <a:t>Class / date: ______________________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Course trainer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783080"/>
            <a:ext cx="10058400" cy="4160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08760" y="2331720"/>
            <a:ext cx="1965960" cy="1965960"/>
          </a:xfrm>
          <a:prstGeom prst="ellipse">
            <a:avLst/>
          </a:prstGeom>
          <a:solidFill>
            <a:srgbClr val="ECFAF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500" b="1"/>
            </a:pPr>
            <a: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103120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COURSE TRAINER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2834640"/>
            <a:ext cx="6492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61B26"/>
                </a:solidFill>
                <a:latin typeface="Arial"/>
              </a:defRPr>
            </a:pPr>
            <a:r>
              <a:t>Dr. Alfred Ang</a:t>
            </a:r>
            <a:br/>
            <a:r>
              <a:t>Approved trainer for this course</a:t>
            </a:r>
            <a:br/>
            <a:r>
              <a:t>Class assignment: provider to confirm</a:t>
            </a:r>
            <a:br/>
            <a:r>
              <a:t>Profile / credentials: trainer to complete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Let us know each other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Your leadership role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60520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61688" y="2057400"/>
            <a:ext cx="3447288" cy="16002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One Copilot opportunity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08976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10144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One decision risk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251960"/>
            <a:ext cx="10287000" cy="8686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Share your leadership role, one Copilot opportunity and one decision concern.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Ground rules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Synthetic data only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60520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61688" y="2057400"/>
            <a:ext cx="3447288" cy="16002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Cite each source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08976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10144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Human approval before 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251960"/>
            <a:ext cx="10287000" cy="8686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Use only synthetic lab data; cite sources; retain human approval for external actions.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Learning platform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LMS/TMS course record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60520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61688" y="2057400"/>
            <a:ext cx="3447288" cy="16002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Current guide and slides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08976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10144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Labs and assessment papers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251960"/>
            <a:ext cx="10287000" cy="8686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Access the course LMS/TMS record for current slides, guides, labs and assessment papers.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Lesson plan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Day 1: Microsoft 365 Copilot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60520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61688" y="2057400"/>
            <a:ext cx="3447288" cy="16002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Day 2: Copilot Workflows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08976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10144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Day 3: agents and scale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251960"/>
            <a:ext cx="10287000" cy="8686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Day 1: Microsoft 365 Copilot · Day 2: Workflows and controls · Day 3: agents, adoption and value.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Learning outcomes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57400"/>
            <a:ext cx="2535174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LO1: implementation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48406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49574" y="2057400"/>
            <a:ext cx="2535174" cy="16002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LO2: security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84748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85916" y="2057400"/>
            <a:ext cx="2535174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LO3: integration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21090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922258" y="2057400"/>
            <a:ext cx="2535174" cy="16002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LO4: optimization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251960"/>
            <a:ext cx="10287000" cy="8686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LO1 implementation · LO2 controls · LO3 integration · LO4 optimization.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Assessment briefing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Written SAQ</a:t>
            </a:r>
            <a:br/>
            <a:r>
              <a:t>3 questions · 60 min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60520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61688" y="2057400"/>
            <a:ext cx="3447288" cy="16002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Practical PP</a:t>
            </a:r>
            <a:br/>
            <a:r>
              <a:t>4 tasks · 60 min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08976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10144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Individual · open book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251960"/>
            <a:ext cx="10287000" cy="8686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Written SAQ: 3 questions / 1 hour. Practical: 4 tasks / 1 hour. Both open book.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Assessment flow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68880"/>
            <a:ext cx="205740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1">
                <a:solidFill>
                  <a:srgbClr val="161B26"/>
                </a:solidFill>
                <a:latin typeface="Arial"/>
              </a:defRPr>
            </a:pPr>
            <a:r>
              <a:t>01</a:t>
            </a:r>
            <a:br/>
            <a:r>
              <a:t>TRAQOM attendance</a:t>
            </a:r>
          </a:p>
        </p:txBody>
      </p:sp>
      <p:sp>
        <p:nvSpPr>
          <p:cNvPr id="9" name="Chevron 8"/>
          <p:cNvSpPr/>
          <p:nvPr/>
        </p:nvSpPr>
        <p:spPr>
          <a:xfrm>
            <a:off x="2596896" y="2926080"/>
            <a:ext cx="228600" cy="411480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43784" y="2468880"/>
            <a:ext cx="205740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1">
                <a:solidFill>
                  <a:srgbClr val="161B26"/>
                </a:solidFill>
                <a:latin typeface="Arial"/>
              </a:defRPr>
            </a:pPr>
            <a:r>
              <a:t>02</a:t>
            </a:r>
            <a:br/>
            <a:r>
              <a:t>Assessment digital attendance</a:t>
            </a:r>
          </a:p>
        </p:txBody>
      </p:sp>
      <p:sp>
        <p:nvSpPr>
          <p:cNvPr id="11" name="Chevron 10"/>
          <p:cNvSpPr/>
          <p:nvPr/>
        </p:nvSpPr>
        <p:spPr>
          <a:xfrm>
            <a:off x="4937760" y="2926080"/>
            <a:ext cx="228600" cy="411480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84648" y="2468880"/>
            <a:ext cx="205740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1">
                <a:solidFill>
                  <a:srgbClr val="161B26"/>
                </a:solidFill>
                <a:latin typeface="Arial"/>
              </a:defRPr>
            </a:pPr>
            <a:r>
              <a:t>03</a:t>
            </a:r>
            <a:br/>
            <a:r>
              <a:t>WA then PP</a:t>
            </a:r>
          </a:p>
        </p:txBody>
      </p:sp>
      <p:sp>
        <p:nvSpPr>
          <p:cNvPr id="13" name="Chevron 12"/>
          <p:cNvSpPr/>
          <p:nvPr/>
        </p:nvSpPr>
        <p:spPr>
          <a:xfrm>
            <a:off x="7278624" y="2926080"/>
            <a:ext cx="228600" cy="411480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25512" y="2468880"/>
            <a:ext cx="205740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1">
                <a:solidFill>
                  <a:srgbClr val="161B26"/>
                </a:solidFill>
                <a:latin typeface="Arial"/>
              </a:defRPr>
            </a:pPr>
            <a:r>
              <a:t>04</a:t>
            </a:r>
            <a:br/>
            <a:r>
              <a:t>LMS submission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9619488" y="2926080"/>
            <a:ext cx="228600" cy="411480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66376" y="2468880"/>
            <a:ext cx="205740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1">
                <a:solidFill>
                  <a:srgbClr val="161B26"/>
                </a:solidFill>
                <a:latin typeface="Arial"/>
              </a:defRPr>
            </a:pPr>
            <a:r>
              <a:t>05</a:t>
            </a:r>
            <a:br/>
            <a:r>
              <a:t>Sign Assessment Summary Record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434840"/>
            <a:ext cx="10287000" cy="7772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Identity check → open-book instructions → individual evidence → assessor review → C / NYC decision.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Assessment evidence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Source and version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60520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61688" y="2057400"/>
            <a:ext cx="3447288" cy="16002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Decision artifact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08976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10144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Reviewer and 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251960"/>
            <a:ext cx="10287000" cy="8686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Submit the written paper and four executive decision artifacts with source, reviewer, date and measures.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LO1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Use Microsoft 365 Copilot for everyday business work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</a:t>
            </a:r>
          </a:p>
        </p:txBody>
      </p:sp>
      <p:pic>
        <p:nvPicPr>
          <p:cNvPr id="8" name="Picture 7" descr="executive-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783080"/>
            <a:ext cx="5029200" cy="282892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173736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Choose a service outcome → Pilot opportunity statement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9748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Ask a useful question → Reusable work prompt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Ground a chat answer → Sourced response summary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61772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Compare options in Chat → Option comparison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LO2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Design safe Copilot Workflows and human controls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</a:t>
            </a:r>
          </a:p>
        </p:txBody>
      </p:sp>
      <p:pic>
        <p:nvPicPr>
          <p:cNvPr id="8" name="Picture 7" descr="copilot-workflows-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783080"/>
            <a:ext cx="5029200" cy="283042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173736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Spot a repeatable handoff → Workflow opportunity 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9748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Define trigger and result → Trigger-to-result 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Add review step → Human review gate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61772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Test exceptions → Test and exception log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LO3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Create and test bounded Copilot agents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</a:t>
            </a:r>
          </a:p>
        </p:txBody>
      </p:sp>
      <p:pic>
        <p:nvPicPr>
          <p:cNvPr id="8" name="Picture 7" descr="copilot-agents-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783080"/>
            <a:ext cx="5029200" cy="283042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173736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Choose agent purpose → Agent purpose statement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9748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Write instructions → Agent instructions draft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Add knowledge → Knowledge-source register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61772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Create starter prompts → Starter prompt set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LO4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Lead adoption, measure value and scale outcomes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</a:t>
            </a:r>
          </a:p>
        </p:txBody>
      </p:sp>
      <p:pic>
        <p:nvPicPr>
          <p:cNvPr id="8" name="Picture 7" descr="executive-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783080"/>
            <a:ext cx="5029200" cy="282892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173736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Map a work journey → Future-state journey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9748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Choose a first cohort → Pilot cohort plan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Prepare managers → Manager enablement brief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61772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Collect user feedback → Improvement backlog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EXECUTIVE COPILOT PRACTICE · Microsoft 365 Copilot Chat and Pages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Lab 01: Copilot Chat and shared planning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</a:t>
            </a:r>
          </a:p>
        </p:txBody>
      </p:sp>
      <p:pic>
        <p:nvPicPr>
          <p:cNvPr id="8" name="Picture 7" descr="executive-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20640" cy="2880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1874519"/>
            <a:ext cx="5074920" cy="11430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Business outcome: Pilot opportunity statement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29000"/>
            <a:ext cx="5074920" cy="13258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decision gate: Sponsor confirms outcome and owner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Choose a service outcome: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Service response baseline and customer feedback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 Microsoft 365 Copilot Chat to identify a bounded opportunity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Pilot opportunity statement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Sponsor confirms outcome and owner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Choose a service outcome: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Service response baseline and customer feedback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Pilot opportunity statement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Use Microsoft 365 Copilot Chat to identify a bounded opportunity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Choose a service outcome: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Use Microsoft 365 Copilot Chat to identify a bounded opportunity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Sponsor confirms outcome and owner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AI use is mistaken for customer benefit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Choose a service outcome: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Service response baseline and customer feedback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AI use is mistaken for customer benefit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Sponsor confirms outcome and owner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Pilot opportunity statement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RESULT · NS-01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Choose a service outcome: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Comparable response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Choose a service outcome: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01 evidence: Pilot opportunity statement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Sponsor confirms outcome and owner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AI use is mistaken for customer benefit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Comparable response time; link source, reviewer and date.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Ask a useful question: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 vague request to improve service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Add audience, task, source, constraints and output to a Copilot prompt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Reusable work prompt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Manager confirms the prompt answers the real question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Ask a useful question: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A vague request to improve 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Reusable work prompt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Add audience, task, source, constraints and output to a Copilot prompt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Ask a useful question: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Add audience, task, source, constraints and output to a Copilot prompt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Manager confirms the prompt answers the real question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Polished response has no decision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Ask a useful question: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A vague request to improve service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Polished response has no decision 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Manager confirms the prompt answers the real question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Reusable work prompt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RESULT · NS-02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Ask a useful question: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Relevant answers per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Ask a useful question: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01 evidence: Reusable work prompt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Manager confirms the prompt answers the real question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Polished response has no decision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Relevant answers per review; link source, reviewer and date.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Ground a chat answer: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Current service policy and two case notes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Ask Copilot Chat to answer from the supplied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Sourced response summary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Check every material statement against the source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Ground a chat answer: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Current service policy and two case notes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Sourced response summary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Ask Copilot Chat to answer from the supplied source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Ground a chat answer: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Ask Copilot Chat to answer from the supplied source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Check every material statement against the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An unsupported claim is repeated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Ground a chat answer: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Current service policy and two case notes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An unsupported claim is repeated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Check every material statement against the source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Sourced response summary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RESULT · NS-03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Ground a chat answer: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Verified claims per sample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Ground a chat answer: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01 evidence: Sourced response summary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Check every material statement against the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An unsupported claim is repeated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Verified claims per sample; link source, reviewer and date.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Compare options in Chat: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Three possible pilot processes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Ask Copilot for benefits, trade-offs and missing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Option comparison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Use the same criteria for all options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Compare options in Chat: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Three possible pilot processes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Option comparison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Ask Copilot for benefits, trade-offs and missing evidence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Compare options in Chat: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Ask Copilot for benefits, trade-offs and missing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Use the same criteria for all options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The preferred option receives easier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Compare options in Chat: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Three possible pilot processes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The preferred option receives easier criteria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Use the same criteria for all options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Option comparison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RESULT · NS-04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Compare options in Chat: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Options with complete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Compare options in Chat: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01 evidence: Option comparison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Use the same criteria for all options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The preferred option receives easier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Options with complete evidence; link source, reviewer and date.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Share a Copilot Page: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 reviewed team decision summary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Move approved ideas into a Copilot Page or offline shared brief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Shared planning page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Owner checks content and access before sharing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Share a Copilot Page: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A reviewed team decision summary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Shared planning page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Move approved ideas into a Copilot Page or offline shared brief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Share a Copilot Page: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Move approved ideas into a Copilot Page or offline shared brief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Owner checks content and access before sharing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Draft assumptions are shown as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Share a Copilot Page: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A reviewed team decision summary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Draft assumptions are shown as decisions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Owner checks content and access before sharing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Shared planning page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RESULT · NS-05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Share a Copilot Page: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Open questions assigned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Share a Copilot Page: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01 evidence: Shared planning page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Owner checks content and access before sharing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Draft assumptions are shown as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Open questions assigned; link source, reviewer and date.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EXECUTIVE COPILOT PRACTICE · Copilot in Word PowerPoint and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Lab 02: Word PowerPoint and Outlook content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48</a:t>
            </a:r>
          </a:p>
        </p:txBody>
      </p:sp>
      <p:pic>
        <p:nvPicPr>
          <p:cNvPr id="8" name="Picture 7" descr="executive-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20640" cy="2880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1874519"/>
            <a:ext cx="5074920" cy="11430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Business outcome: Reviewed Word brief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29000"/>
            <a:ext cx="5074920" cy="13258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decision gate: Sponsor checks numbers and recommendation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Draft a Word brief: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Approved pilot notes and service 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 Copilot in Word to draft a two-page decision brief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Reviewed Word brief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Sponsor checks numbers and recommendation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Draft a Word brief: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Approved pilot notes and service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Reviewed Word brief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Use Copilot in Word to draft a two-page decision brief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Draft a Word brief: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Use Copilot in Word to draft a two-page decision brief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Sponsor checks numbers and recommendation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Copilot invents a benefit estimate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Draft a Word brief: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Approved pilot notes and service 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Copilot invents a benefit estimate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Sponsor checks numbers and recommendation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Reviewed Word brief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RESULT · NS-06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Draft a Word brief: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Verified material claims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Draft a Word brief: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02 evidence: Reviewed Word brief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Sponsor checks numbers and recommendation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Copilot invents a benefit estimate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Verified material claims; link source, reviewer and date.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Refine executive tone: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 rough draft for a leadership audience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Ask Copilot in Word to shorten and clarify the recommendation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Concise executive summary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Human owner signs the final message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Refine executive tone: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A rough draft for a leadership audience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Concise executive summary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Ask Copilot in Word to shorten and clarify the recommendation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Refine executive tone: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Ask Copilot in Word to shorten and clarify the recommendation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Human owner signs the final message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Important caveat disappears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Refine executive tone: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A rough draft for a leadership audience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Important caveat disappears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Human owner signs the final message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Concise executive summary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RESULT · NS-07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Refine executive tone: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Decisions understood in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Refine executive tone: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02 evidence: Concise executive summary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Human owner signs the final message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Important caveat disappears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Decisions understood in review; link source, reviewer and date.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Create board slides: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Approved Word brief and baseline 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 Copilot in PowerPoint to create a five-slide decision story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Board presentation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Trace every chart to approved values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Create board slides: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Approved Word brief and baseline chart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Board presentation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Use Copilot in PowerPoint to create a five-slide decision story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Create board slides: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Use Copilot in PowerPoint to create a five-slide decision story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Trace every chart to approved values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Slide claim exceeds the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Create board slides: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Approved Word brief and baseline 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Slide claim exceeds the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Trace every chart to approved values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Board presentation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RESULT · NS-08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Create board slides: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Figures checked before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Create board slides: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02 evidence: Board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Trace every chart to approved values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Slide claim exceeds the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Figures checked before review; link source, reviewer and date.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Draft Outlook update: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Approved pilot decision and open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 Copilot in Outlook to prepare a status message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Unsent status draft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Sponsor approves recipients and commitments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Draft Outlook update: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Approved pilot decision and open 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Unsent status draft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Use Copilot in Outlook to prepare a status message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Draft Outlook update: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Use Copilot in Outlook to prepare a status message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Sponsor approves recipients and commitments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An unapproved promise is sent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Draft Outlook update: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Approved pilot decision and open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An unapproved promise is sent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Sponsor approves recipients and commitments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Unsent status draft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RESULT · NS-09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Draft Outlook update: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Messages approved before sending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Draft Outlook update: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02 evidence: Unsent status draft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Sponsor approves recipients and commitments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An unapproved promise is sent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Messages approved before sending; link source, reviewer and date.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Use Researcher carefully: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Synthetic policy and market question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 Researcher if available to gather sources, or compare supplied documents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Source and uncertainty list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Validate dates, claims and relevance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Use Researcher carefully: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Synthetic policy and market question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Source and uncertainty list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Use Researcher if available to gather sources, or compare supplied documents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Use Researcher carefully: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Use Researcher if available to gather sources, or compare supplied documents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Validate dates, claims and relevance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Research summary treats weak source as 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Use Researcher carefully: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Synthetic policy and market question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Research summary treats weak source as fact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Validate dates, claims and relevance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Source and uncertainty list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RESULT · NS-10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Use Researcher carefully: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Sources verified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Use Researcher carefully: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02 evidence: Source and uncertainty 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Validate dates, claims and relevance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Research summary treats weak source as 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Sources verified; link source, reviewer and date.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EXECUTIVE COPILOT PRACTICE · Copilot in Excel and Teams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Lab 03: Excel analysis and Teams decisions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79</a:t>
            </a:r>
          </a:p>
        </p:txBody>
      </p:sp>
      <p:pic>
        <p:nvPicPr>
          <p:cNvPr id="8" name="Picture 7" descr="executive-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20640" cy="2880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1874519"/>
            <a:ext cx="5074920" cy="11430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Business outcome: Trend summary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29000"/>
            <a:ext cx="5074920" cy="13258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decision gate: Check chart and denominator against workbook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Explore Excel data: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Synthetic monthly service-volume workbook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Ask Copilot in Excel to surface patterns and outliers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Trend summary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Check chart and denominator against workbook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Explore Excel data: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Synthetic monthly service-volume workbook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Trend summary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Ask Copilot in Excel to surface patterns and outliers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Explore Excel data: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Ask Copilot in Excel to surface patterns and outliers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Check chart and denominator against workbook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An outlier is presented as a trend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Explore Excel data: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Synthetic monthly service-volume workbook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An outlier is presented as a trend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Check chart and denominator against workbook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Trend summary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RESULT · NS-11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Explore Excel data: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Patterns confirmed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Explore Excel data: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03 evidence: Trend summary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Check chart and denominator against workbook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An outlier is presented as a trend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Patterns confirmed; link source, reviewer and date.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Build a simple chart: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Synthetic before-and-after service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 Copilot in Excel to propose a clear chart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Annotated comparison chart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Use comparable periods and units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Build a simple chart: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Synthetic before-and-after service 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Annotated comparison chart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Use Copilot in Excel to propose a clear chart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Build a simple chart: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Use Copilot in Excel to propose a clear 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Use comparable periods and units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Axis hides change or variation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Build a simple chart: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Synthetic before-and-after service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Axis hides change or variation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Use comparable periods and units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Annotated comparison chart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RESULT · NS-12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Build a simple chart: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Correctly labelled charts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Build a simple chart: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03 evidence: Annotated comparison 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Use comparable periods and units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Axis hides change or variation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Correctly labelled charts; link source, reviewer and date.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Prepare a Teams meeting: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Pilot objective, questions and decision owner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 Copilot to prepare a concise meeting agenda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Decision agenda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Chair confirms questions and owner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Prepare a Teams meeting: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Pilot objective, questions and decision owner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Decision agenda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Use Copilot to prepare a concise meeting agenda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Prepare a Teams meeting: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Use Copilot to prepare a concise meeting agenda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Chair confirms questions and owner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Meeting has no decision to make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Prepare a Teams meeting: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Pilot objective, questions and decision owner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Meeting has no decision to make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Chair confirms questions and owner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Decision agenda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RESULT · NS-13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Prepare a Teams meeting: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Decisions reached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Prepare a Teams meeting: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03 evidence: Decision agenda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Chair confirms questions and owner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Meeting has no decision to make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Decisions reached; link source, reviewer and date.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Review meeting recap: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Synthetic Teams transcript and dissent note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 Copilot in Teams to summarize decisions and 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Validated action 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Chair checks speakers, owners and dates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Review meeting recap: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Synthetic Teams transcript and dissent note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Validated action 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Use Copilot in Teams to summarize decisions and actions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Review meeting recap: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Use Copilot in Teams to summarize decisions and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Chair checks speakers, owners and dates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Action is attributed to wrong person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Review meeting recap: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Synthetic Teams transcript and dissent note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Action is attributed to wrong person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Chair checks speakers, owners and dates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Validated action log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RESULT · NS-14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Review meeting recap: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Actions confirmed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Review meeting recap: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03 evidence: Validated action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Chair checks speakers, owners and dates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Action is attributed to wrong person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Actions confirmed; link source, reviewer and date.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Follow up after meeting: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Validated action log and unresolved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 Copilot Chat or Outlook to draft an unsent follow-up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Reviewed follow-up message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Owner approves external distribution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Follow up after meeting: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Validated action log and unresolved questions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Reviewed follow-up message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Use Copilot Chat or Outlook to draft an unsent follow-up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Follow up after meeting: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Use Copilot Chat or Outlook to draft an unsent follow-up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Owner approves external distribution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Dissent or hold condition is omitted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Follow up after meeting: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Validated action log and unresolved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Dissent or hold condition is omitted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Owner approves external distribution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Reviewed follow-up message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RESULT · NS-15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Follow up after meeting: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Actions closed on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Follow up after meeting: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03 evidence: Reviewed follow-up message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Owner approves external distribution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Dissent or hold condition is omitted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Actions closed on time; link source, reviewer and date.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EXECUTIVE COPILOT PRACTICE · Copilot Workflows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Lab 04: Design a Copilot Workflow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110</a:t>
            </a:r>
          </a:p>
        </p:txBody>
      </p:sp>
      <p:pic>
        <p:nvPicPr>
          <p:cNvPr id="8" name="Picture 7" descr="copilot-workflows-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20640" cy="288189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1874519"/>
            <a:ext cx="5074920" cy="11430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Business outcome: Workflow opportunity 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29000"/>
            <a:ext cx="5074920" cy="13258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decision gate: Process owner confirms a repeatable trigger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Spot a repeatable handoff: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Synthetic email requests and missed deadlines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Describe a Microsoft 365 Copilot Workflows opportunity in plain language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Workflow opportunity 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Process owner confirms a repeatable trigger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Spot a repeatable handoff: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Synthetic email requests and missed deadlines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Workflow opportunity 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Describe a Microsoft 365 Copilot Workflows opportunity in plain language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DECISION · NS-16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Spot a repeatable handoff: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Describe a Microsoft 365 Copilot Workflows opportunity in plain language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Process owner confirms a repeatable trigger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One-off judgment is automated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Spot a repeatable handoff: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Synthetic email requests and missed deadlines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One-off judgment is automated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Process owner confirms a repeatable trigger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Workflow opportunity card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RESULT · NS-16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Spot a repeatable handoff: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Handoff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GATE · NS-16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Spot a repeatable handoff: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04 evidence: Workflow opportunity 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Process owner confirms a repeatable trigger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One-off judgment is automated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Handoff time; link source, reviewer and date.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Define trigger and result: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Service request email with fictional fields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Ask Workflows to draft trigger, steps and intended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Trigger-to-result map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Owner verifies trigger is precise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Define trigger and result: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Service request email with fictional fields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Trigger-to-result map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Ask Workflows to draft trigger, steps and intended output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DECISION · NS-17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Define trigger and result: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Ask Workflows to draft trigger, steps and intended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Owner verifies trigger is precise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Wrong message starts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Define trigger and result: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Service request email with fictional fields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Wrong message starts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Owner verifies trigger is precise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Trigger-to-result map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RESULT · NS-17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Define trigger and result: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Correctly triggered cases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GATE · NS-17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Define trigger and result: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04 evidence: Trigger-to-result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Owner verifies trigger is precise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Wrong message starts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Correctly triggered cases; link source, reviewer and date.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Add review step: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Draft acknowledgement and case summary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Ask Workflows to route draft for human approval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Human review gate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No external commitment before approval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Add review step: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Draft acknowledgement and case summary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Human review gate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Ask Workflows to route draft for human approval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DECISION · NS-18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Add review step: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Ask Workflows to route draft for human approval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No external commitment before approval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Message sends without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Add review step: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Draft acknowledgement and case summary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Message sends without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No external commitment before approval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Human review gate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RESULT · NS-18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Add review step: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Unapproved sends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GATE · NS-18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Add review step: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04 evidence: Human review gate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No external commitment before approval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Message sends without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Unapproved sends; link source, reviewer and date.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exceptions: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Missing case owner and contradictory priority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Test workflow with normal and exception examples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Test and exception 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Hold unknown owner or conflicting input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exceptions: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Missing case owner and contradictory priority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Test and exception 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Test workflow with normal and exception examples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DECISION · NS-19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exceptions: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Test workflow with normal and exception examples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Hold unknown owner or conflicting input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Exception is silently routed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exceptions: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Missing case owner and contradictory priority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Exception is silently routed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Hold unknown owner or conflicting input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Test and exception log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RESULT · NS-19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exceptions: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Exceptions detected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GATE · NS-19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exceptions: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04 evidence: Test and exception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Hold unknown owner or conflicting input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Exception is silently routed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Exceptions detected; link source, reviewer and date.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Decide to activate: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Workflow test record and accountable owner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Review Workflows draft, permissions and run history before enabling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Go or hold record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Owner approves live activation in authorised tenant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Decide to activate: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Workflow test record and accountable owner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Go or hold record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Review Workflows draft, permissions and run history before enabling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DECISION · NS-20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Decide to activate: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Review Workflows draft, permissions and run history before enabling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Owner approves live activation in authorised tenant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Simulation is described as deployed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Decide to activate: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Workflow test record and accountable owner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Simulation is described as deployed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Owner approves live activation in authorised tenant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Go or hold record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RESULT · NS-20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Decide to activate: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Approved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GATE · NS-20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Decide to activate: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04 evidence: Go or hold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Owner approves live activation in authorised tenant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Simulation is described as deployed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Approved runs; link source, reviewer and date.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EXECUTIVE COPILOT PRACTICE · Copilot Workflows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Lab 05: Control and review a workflow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141</a:t>
            </a:r>
          </a:p>
        </p:txBody>
      </p:sp>
      <p:pic>
        <p:nvPicPr>
          <p:cNvPr id="8" name="Picture 7" descr="copilot-workflows-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20640" cy="288189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1874519"/>
            <a:ext cx="5074920" cy="11430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Business outcome: Data boundary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29000"/>
            <a:ext cx="5074920" cy="13258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decision gate: Data owner approves sources and recipients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Check data access: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Two synthetic role-based document sets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Review what a workflow can read and where output goes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Data boundary map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Data owner approves sources and recipients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Check data access: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Two synthetic role-based document sets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Data boundary map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Review what a workflow can read and where output goes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DECISION · NS-21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Check data access: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Review what a workflow can read and where output goes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Data owner approves sources and recipients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Restricted content reaches a broad channel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Check data access: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Two synthetic role-based document sets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Restricted content reaches a broad channel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Data owner approves sources and recipients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Data boundary map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RESULT · NS-21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Check data access: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Unexpected access findings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GATE · NS-21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Check data access: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05 evidence: Data boundary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Data owner approves sources and recipients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Restricted content reaches a broad channel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Unexpected access findings; link source, reviewer and date.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Verify source freshness: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Current and retired service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Test the draft workflow against both versions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Source test record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Current rule governs action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Verify source freshness: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Current and retired service rules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Source test record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Test the draft workflow against both versions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DECISION · NS-22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Verify source freshness: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Test the draft workflow against both versions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Current rule governs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Retired rule triggers an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Verify source freshness: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Current and retired service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Retired rule triggers an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Current rule governs action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Source test record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RESULT · NS-22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Verify source freshness: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Current-source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GATE · NS-22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Verify source freshness: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05 evidence: Source test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Current rule governs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Retired rule triggers an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Current-source rate; link source, reviewer and date.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Set approval responsibility: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Service, risk and IT roles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Assign who reviews, pauses and restores a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Plain-language responsibility 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Each consequential action has an owner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Set approval responsibility: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Service, risk and IT roles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Plain-language responsibility 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Assign who reviews, pauses and restores a workflow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DECISION · NS-23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Set approval responsibility: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Assign who reviews, pauses and restores a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Each consequential action has an owner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Everyone assumes another team approves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Set approval responsibility: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Service, risk and IT roles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Everyone assumes another team approves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Each consequential action has an owner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Plain-language responsibility card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RESULT · NS-23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Set approval responsibility: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Controls with named owners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GATE · NS-23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Set approval responsibility: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05 evidence: Plain-language responsibility 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Each consequential action has an owner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Everyone assumes another team approves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Controls with named owners; link source, reviewer and date.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Plan incident response: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Synthetic misrouted notification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Write a pause, contain, notify and retest path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Incident response 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Risk owner decides restart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Plan incident response: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Synthetic misrouted notification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Incident response 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Write a pause, contain, notify and retest path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DECISION · NS-24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Plan incident response: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Write a pause, contain, notify and retest path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Risk owner decides restart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Workflow continues after a failure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Plan incident response: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Synthetic misrouted notification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Workflow continues after a failure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Risk owner decides restart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Incident response card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RESULT · NS-24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Plan incident response: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Time to pause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GATE · NS-24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Plan incident response: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05 evidence: Incident response 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Risk owner decides restart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Workflow continues after a failure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Time to pause; link source, reviewer and date.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Review workflow value: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Five sample requests and review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Compare manual and assisted handoff times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Workflow pilot scorecard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Include human review and error effort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Review workflow value: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Five sample requests and review minutes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Workflow pilot scorecard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Compare manual and assisted handoff times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DECISION · NS-25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Review workflow value: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Compare manual and assisted handoff times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Include human review and error effort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Gross time saved is called net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Review workflow value: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Five sample requests and review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Gross time saved is called net 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Include human review and error effort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Workflow pilot scorecard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RESULT · NS-25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Review workflow value: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Net minutes per case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GATE · NS-25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Review workflow value: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05 evidence: Workflow pilot scorecard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Include human review and error effort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Gross time saved is called net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Net minutes per case; link source, reviewer and date.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EXECUTIVE COPILOT PRACTICE · Microsoft 365 Copilot Agent Builder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Lab 06: Build a focused Copilot agent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172</a:t>
            </a:r>
          </a:p>
        </p:txBody>
      </p:sp>
      <p:pic>
        <p:nvPicPr>
          <p:cNvPr id="8" name="Picture 7" descr="copilot-agents-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20640" cy="288189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1874519"/>
            <a:ext cx="5074920" cy="11430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Business outcome: Agent purpose statement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29000"/>
            <a:ext cx="5074920" cy="13258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decision gate: Owner excludes high-impact decisions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Choose agent purpose: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Recurring employee policy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Define one bounded use for Copilot Agent Builder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Agent purpose statement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Owner excludes high-impact decisions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Choose agent purpose: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Recurring employee policy questions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Agent purpose statement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Define one bounded use for Copilot Agent Builder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DECISION · NS-26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Choose agent purpose: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Define one bounded use for Copilot Agent Builder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Owner excludes high-impact decisions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Agent has no clear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Choose agent purpose: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Recurring employee policy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Agent has no clear scope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Owner excludes high-impact decisions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Agent purpose statement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RESULT · NS-26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Choose agent purpose: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In-scope answer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GATE · NS-26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Choose agent purpose: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06 evidence: Agent purpose statement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Owner excludes high-impact decisions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Agent has no clear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In-scope answer rate; link source, reviewer and date.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Write instructions: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Approved policy excerpts and role statement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Describe audience, task, boundaries and escalation in Agent Builder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Agent instructions draft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Owner checks failure and escalation wording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Write instructions: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Approved policy excerpts and role statement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Agent instructions draft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Describe audience, task, boundaries and escalation in Agent Builder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DECISION · NS-27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Write instructions: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Describe audience, task, boundaries and escalation in Agent Builder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Owner checks failure and escalation wording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Agent implies it can approve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Write instructions: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Approved policy excerpts and role statement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Agent implies it can approve policy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Owner checks failure and escalation wording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Agent instructions draft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RESULT · NS-27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Write instructions: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Escalations handled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GATE · NS-27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Write instructions: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06 evidence: Agent instructions draft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Owner checks failure and escalation wording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Agent implies it can approve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Escalations handled; link source, reviewer and date.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Add knowledge: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Current synthetic policy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Attach approved knowledge sources in Agent Builder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Knowledge-source register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Data owner validates permissions and versions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Add knowledge: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Current synthetic policy files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Knowledge-source register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Attach approved knowledge sources in Agent Builder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DECISION · NS-28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Add knowledge: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Attach approved knowledge sources in Agent Builder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Data owner validates permissions and versions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Retired file remains attached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Add knowledge: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Current synthetic policy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Retired file remains attached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Data owner validates permissions and versions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Knowledge-source register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RESULT · NS-28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Add knowledge: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Approved sources used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GATE · NS-28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Add knowledge: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06 evidence: Knowledge-source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Data owner validates permissions and versions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Retired file remains attached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Approved sources used; link source, reviewer and date.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Create starter prompts: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Three common user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Write clear starter prompts for the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Starter prompt set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Business user can understand each prompt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Create starter prompts: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Three common user questions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Starter prompt set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Write clear starter prompts for the agent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DECISION · NS-29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Create starter prompts: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Write clear starter prompts for the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Business user can understand each prompt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Prompts ask for unsupported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Create starter prompts: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Three common user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Prompts ask for unsupported decisions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Business user can understand each prompt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Starter prompt set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RESULT · NS-29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Create starter prompts: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Prompt completion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GATE · NS-29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Create starter prompts: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06 evidence: Starter prompt 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Business user can understand each prompt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Prompts ask for unsupported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Prompt completion rate; link source, reviewer and date.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Preview a response: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Typical policy question with source answer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Test the agent preview and compare to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Agent response review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Owner verifies accuracy and citation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Preview a response: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Typical policy question with source answer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Agent response review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Test the agent preview and compare to source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DECISION · NS-30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Preview a response: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Test the agent preview and compare to source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Owner verifies accuracy and citation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Confident answer is unsupported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Preview a response: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Typical policy question with source answer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Confident answer is unsupported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Owner verifies accuracy and citation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Agent response review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RESULT · NS-30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Preview a response: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Correct answers per 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GATE · NS-30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Preview a response: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06 evidence: Agent response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Owner verifies accuracy and citation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Confident answer is unsupported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Correct answers per test; link source, reviewer and date.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EXECUTIVE COPILOT PRACTICE · Microsoft 365 Copilot Agent Builder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Lab 07: Test share and monitor an agent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203</a:t>
            </a:r>
          </a:p>
        </p:txBody>
      </p:sp>
      <p:pic>
        <p:nvPicPr>
          <p:cNvPr id="8" name="Picture 7" descr="copilot-agents-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20640" cy="288189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1874519"/>
            <a:ext cx="5074920" cy="11430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Business outcome: Normal-case test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29000"/>
            <a:ext cx="5074920" cy="13258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decision gate: Answer matches current source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a normal question: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Approved leave-policy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Ask the agent for a bounded answer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Normal-case test record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Answer matches current source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a normal question: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Approved leave-policy example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Normal-case test record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Ask the agent for a bounded answer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DECISION · NS-31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a normal question: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Ask the agent for a bounded answer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Answer matches current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Agent omits a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a normal question: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Approved leave-policy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Agent omits a condition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Answer matches current source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Normal-case test record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RESULT · NS-31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a normal question: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Correct normal answers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GATE · NS-31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a normal question: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07 evidence: Normal-case test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Answer matches current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Agent omits a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Correct normal answers; link source, reviewer and date.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missing knowledge: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Question outside approved policy 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Ask the agent to state uncertainty and escalation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Out-of-scope test record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Agent hands off unknown answer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missing knowledge: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Question outside approved policy 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Out-of-scope test record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Ask the agent to state uncertainty and escalation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DECISION · NS-32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missing knowledge: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Ask the agent to state uncertainty and escalation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Agent hands off unknown answer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Agent invents a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missing knowledge: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Question outside approved policy 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Agent invents a policy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Agent hands off unknown answer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Out-of-scope test record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RESULT · NS-32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missing knowledge: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Correct escalations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GATE · NS-32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missing knowledge: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07 evidence: Out-of-scope test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Agent hands off unknown answer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Agent invents a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Correct escalations; link source, reviewer and date.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conflicting sources: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Current and retired synthetic policies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Challenge the agent with contradictory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Conflict test record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Owner chooses authoritative source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conflicting sources: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Current and retired synthetic policies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Conflict test record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Challenge the agent with contradictory evidence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DECISION · NS-33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conflicting sources: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Challenge the agent with contradictory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Owner chooses authoritative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Agent cites retired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conflicting sources: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Current and retired synthetic policies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Agent cites retired policy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Owner chooses authoritative source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Conflict test record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RESULT · NS-33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conflicting sources: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Conflicts surfaced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GATE · NS-33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conflicting sources: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07 evidence: Conflict test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Owner chooses authoritative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Agent cites retired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Conflicts surfaced; link source, reviewer and date.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Pilot with users: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Three synthetic role personas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Run a small acceptance review before sharing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Pilot feedback 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Address material failures before release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Pilot with users: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Three synthetic role personas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Pilot feedback 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Run a small acceptance review before sharing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DECISION · NS-34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Pilot with users: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Run a small acceptance review before sharing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Address material failures before release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First demo is treated as sign-off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Pilot with users: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Three synthetic role personas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First demo is treated as sign-off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Address material failures before release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Pilot feedback log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RESULT · NS-34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Pilot with users: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Critical failures closed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GATE · NS-34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Pilot with users: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07 evidence: Pilot feedback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Address material failures before release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First demo is treated as sign-off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Critical failures closed; link source, reviewer and date.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Share and monitor: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Approved agent and audience 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Review Agent Builder sharing and ongoing feedback plan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Agent release and review 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Owner checks audience and knowledge access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Share and monitor: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Approved agent and audience 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Agent release and review 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Review Agent Builder sharing and ongoing feedback plan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DECISION · NS-35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Share and monitor: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Review Agent Builder sharing and ongoing feedback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Owner checks audience and knowledge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Agent is shared too broadly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Share and monitor: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Approved agent and audience 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Agent is shared too broadly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Owner checks audience and knowledge access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Agent release and review card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RESULT · NS-35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Share and monitor: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Reviewed usage and feedback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GATE · NS-35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Share and monitor: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07 evidence: Agent release and review 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Owner checks audience and knowledge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Agent is shared too broadly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Reviewed usage and feedback; link source, reviewer and date.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EXECUTIVE COPILOT PRACTICE · Copilot Chat and Word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Lab 08: Pilot adoption and work redesign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234</a:t>
            </a:r>
          </a:p>
        </p:txBody>
      </p:sp>
      <p:pic>
        <p:nvPicPr>
          <p:cNvPr id="8" name="Picture 7" descr="executive-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20640" cy="2880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1874519"/>
            <a:ext cx="5074920" cy="11430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Business outcome: Future-state journey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29000"/>
            <a:ext cx="5074920" cy="13258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decision gate: Keep human decisions visible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Map a work journey: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Chat, workflow and agent opportunities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Show where each Copilot mode helps in one service journey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Future-state journey map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Keep human decisions visible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Map a work journey: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Chat, workflow and agent opportunities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Future-state journey map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Show where each Copilot mode helps in one service journey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Map a work journey: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Show where each Copilot mode helps in one service journey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Keep human decisions visible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The same task is duplicated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Map a work journey: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Chat, workflow and agent opportunities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The same task is duplicated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Keep human decisions visible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Future-state journey map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RESULT · NS-36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Map a work journey: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Time to completion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Map a work journey: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08 evidence: Future-state journey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Keep human decisions visible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The same task is duplicated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Time to completion; link source, reviewer and date.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Choose a first cohort: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Thirty synthetic seats across three teams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Prioritize roles with useful work and manager 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Pilot cohort plan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Sponsor signs selection criteria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Choose a first cohort: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Thirty synthetic seats across three teams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Pilot cohort plan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Prioritize roles with useful work and manager support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Choose a first cohort: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Prioritize roles with useful work and manager 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Sponsor signs selection criteria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Licence count replaces 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Choose a first cohort: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Thirty synthetic seats across three teams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Licence count replaces opportunity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Sponsor signs selection criteria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Pilot cohort plan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RESULT · NS-37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Choose a first cohort: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Productive pilot users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Choose a first cohort: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08 evidence: Pilot cohort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Sponsor signs selection criteria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Licence count replaces 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Productive pilot users; link source, reviewer and date.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Prepare managers: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Role questions and practice needs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Draft a manager briefing with Copilot in Word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Manager enablement brief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Managers can explain limits and outcomes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Prepare managers: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Role questions and practice needs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Manager enablement brief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Draft a manager briefing with Copilot in Word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Prepare managers: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Draft a manager briefing with Copilot in Word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Managers can explain limits and outcomes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Training only shows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Prepare managers: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Role questions and practice needs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Training only shows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Managers can explain limits and outcomes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Manager enablement brief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RESULT · NS-38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Prepare managers: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Practice completion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Prepare managers: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08 evidence: Manager enablement brief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Managers can explain limits and outcomes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Training only shows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Practice completion; link source, reviewer and date.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Collect user feedback: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Synthetic comments from first two weeks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 Copilot Chat to group friction and successes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Improvement backlog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Assign an owner and due date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Collect user feedback: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Synthetic comments from first two weeks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Improvement backlog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Use Copilot Chat to group friction and successes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Collect user feedback: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Use Copilot Chat to group friction and successes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Assign an owner and due 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Complaints about bad sources are called prompt errors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Collect user feedback: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Synthetic comments from first two weeks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Complaints about bad sources are called prompt errors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Assign an owner and due date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Improvement backlog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RESULT · NS-39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Collect user feedback: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Issues closed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Collect user feedback: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08 evidence: Improvement backlog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Assign an owner and due 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Complaints about bad sources are called prompt errors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Issues closed; link source, reviewer and date.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Set scale gate: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Adoption, quality and risk observations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Define go, hold and stop conditions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Scale decision checklist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Critical failure blocks scale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Set scale gate: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Adoption, quality and risk observations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Scale decision checklist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Define go, hold and stop conditions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Set scale gate: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Define go, hold and stop conditions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Critical failure blocks 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Average score hides severe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Set scale gate: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Adoption, quality and risk observations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Average score hides severe error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Critical failure blocks scale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Scale decision checklist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RESULT · NS-40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Set scale gate: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Required gates passed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Set scale gate: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08 evidence: Scale decision checklist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Critical failure blocks 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Average score hides severe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Required gates passed; link source, reviewer and date.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EXECUTIVE COPILOT PRACTICE · Copilot in Excel and Word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Lab 09: Measure value and make an investment case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265</a:t>
            </a:r>
          </a:p>
        </p:txBody>
      </p:sp>
      <p:pic>
        <p:nvPicPr>
          <p:cNvPr id="8" name="Picture 7" descr="executive-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20640" cy="2880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1874519"/>
            <a:ext cx="5074920" cy="11430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Business outcome: Net-time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29000"/>
            <a:ext cx="5074920" cy="13258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decision gate: Check formulas and comparable work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Measure time honestly: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Baseline, assisted and review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 Copilot in Excel to explain net minutes saved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Net-time table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Check formulas and comparable work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Measure time honestly: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Baseline, assisted and review minutes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Net-time table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Use Copilot in Excel to explain net minutes saved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Measure time honestly: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Use Copilot in Excel to explain net minutes saved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Check formulas and comparable 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Review time is omitted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Measure time honestly: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Baseline, assisted and review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Review time is omitted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Check formulas and comparable work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Net-time table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RESULT · NS-41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Measure time honestly: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Net minutes per task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Measure time honestly: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09 evidence: Net-time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Check formulas and comparable 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Review time is omitted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Net minutes per task; link source, reviewer and date.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Measure quality: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Sample drafts and correction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 Copilot to summarize error types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Quality scorecard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Critical error is reported separately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Measure quality: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Sample drafts and correction log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Quality scorecard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Use Copilot to summarize error types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Measure quality: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Use Copilot to summarize error types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Critical error is reported separately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Average quality hides material failure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Measure quality: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Sample drafts and correction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Average quality hides material failure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Critical error is reported separately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Quality scorecard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RESULT · NS-42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Measure quality: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Critical errors per sample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Measure quality: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09 evidence: Quality scorecard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Critical error is reported separately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Average quality hides material failure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Critical errors per sample; link source, reviewer and date.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Measure adoption: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Seat assignments and actual useful sessions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Compare licence, activity and productive use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Adoption chart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Define productive use per role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Measure adoption: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Seat assignments and actual useful sessions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Adoption chart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Compare licence, activity and productive use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Measure adoption: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Compare licence, activity and productive use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Define productive use per role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Seats are presented as adoption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Measure adoption: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Seat assignments and actual useful sessions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Seats are presented as adoption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Define productive use per role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Adoption chart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RESULT · NS-43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Measure adoption: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Productive users per cohort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Measure adoption: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09 evidence: Adoption 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Define productive use per role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Seats are presented as adoption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Productive users per cohort; link source, reviewer and date.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Estimate total cost: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Synthetic licensing, training and review costs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Compare costs and benefits with Excel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Scenario table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Label assumptions and sensitivity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Estimate total cost: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Synthetic licensing, training and review costs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Scenario table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Compare costs and benefits with Excel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Estimate total cost: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Compare costs and benefits with Excel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Label assumptions and sensitivity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Licence is the only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Estimate total cost: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Synthetic licensing, training and review costs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Licence is the only cost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Label assumptions and sensitivity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Scenario table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RESULT · NS-44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Estimate total cost: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Cost per verified outcome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Estimate total cost: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09 evidence: Scenario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Label assumptions and sensitivity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Licence is the only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Cost per verified outcome; link source, reviewer and date.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Decide investment: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Value, quality and risk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Draft a fund, hold or stop note in Word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Investment decision memo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Sponsor signs conditions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Decide investment: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Value, quality and risk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Investment decision memo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Draft a fund, hold or stop note in Word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Decide investment: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Draft a fund, hold or stop note in Word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Sponsor signs conditions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Optimistic forecast is described as measured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Decide investment: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Value, quality and risk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Optimistic forecast is described as measured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Sponsor signs conditions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Investment decision memo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RESULT · NS-45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Decide investment: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Conditions met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Decide investment: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09 evidence: Investment decision memo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Sponsor signs conditions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Optimistic forecast is described as measured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Conditions met; link source, reviewer and date.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EXECUTIVE COPILOT PRACTICE · Copilot in PowerPoint and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Lab 10: Lead the transformation decision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296</a:t>
            </a:r>
          </a:p>
        </p:txBody>
      </p:sp>
      <p:pic>
        <p:nvPicPr>
          <p:cNvPr id="8" name="Picture 7" descr="executive-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20640" cy="2880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1874519"/>
            <a:ext cx="5074920" cy="11430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Business outcome: Opportunity portfolio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29000"/>
            <a:ext cx="5074920" cy="13258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decision gate: Reject ownerless opportunity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Prioritize use cases: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Five candidate Copilot opportunities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Rank outcome, readiness, risk and owner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Opportunity portfolio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Reject ownerless opportunity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Prioritize use cases: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Five candidate Copilot opportunities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Opportunity portfolio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Rank outcome, readiness, risk and owner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Prioritize use cases: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Rank outcome, readiness, risk and owner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Reject ownerless opportunity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Highest volume is treated as highest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Prioritize use cases: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Five candidate Copilot opportunities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Highest volume is treated as highest 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Reject ownerless opportunity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Opportunity portfolio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RESULT · NS-46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Prioritize use cases: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Validated value per case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Prioritize use cases: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10 evidence: Opportunity portfolio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Reject ownerless opportunity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Highest volume is treated as highest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Validated value per case; link source, reviewer and date.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Design ninety days: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Pilot observations and manager capacity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Sequence chat, workflow and agent waves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Ninety-day roadmap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Each wave has owner and gate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Design ninety days: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Pilot observations and manager capacity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Ninety-day roadmap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Sequence chat, workflow and agent waves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Design ninety days: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Sequence chat, workflow and agent waves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Each wave has owner and gate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Rollout outruns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Design ninety days: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Pilot observations and manager capacity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Rollout outruns 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Each wave has owner and gate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Ninety-day roadmap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RESULT · NS-47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Design ninety days: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Wave gates met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Design ninety days: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10 evidence: Ninety-day roadmap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Each wave has owner and gate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Rollout outruns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Wave gates met; link source, reviewer and date.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Tell the board: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Verified pilot outcome and open risks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 Copilot in PowerPoint to draft a board update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Board scorecard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Every claim has source and date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Tell the board: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Verified pilot outcome and open risks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Board scorecard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Use Copilot in PowerPoint to draft a board update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Tell the board: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Use Copilot in PowerPoint to draft a board update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Every claim has source and 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Risk disappears from narrative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Tell the board: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Verified pilot outcome and open risks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Risk disappears from narrative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Every claim has source and date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Board scorecard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RESULT · NS-48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Tell the board: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Claims traceable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Tell the board: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10 evidence: Board scorecard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Every claim has source and 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Risk disappears from narrative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Claims traceable; link source, reviewer and date.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Challenge the case: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 confident recommendation and downside scenario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Ask Copilot Chat for counterarguments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Decision challenge 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Executive answers strongest objection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Challenge the case: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A confident recommendation and downside scenario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Decision challenge 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Ask Copilot Chat for counterarguments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Challenge the case: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Ask Copilot Chat for counterarguments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Executive answers strongest objection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Polished demo substitutes for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Challenge the case: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A confident recommendation and downside scenario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Polished demo substitutes for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Executive answers strongest objection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Decision challenge log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RESULT · NS-49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Challenge the case: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Objections resolved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Challenge the case: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10 evidence: Decision challenge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Executive answers strongest objection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Polished demo substitutes for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Objections resolved; link source, reviewer and date.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Make the call: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Portfolio, roadmap and scorecard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Record the sponsor go, hold or stop decision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Signed transformation decision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Owner names next review date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Make the call: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Portfolio, roadmap and scorecard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Signed transformation decision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Record the sponsor go, hold or stop decision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Make the call: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Record the sponsor go, hold or stop decision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Owner names next review 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Decision has no accountable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Make the call: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Portfolio, roadmap and scorecard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Decision has no accountable owner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Owner names next review date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Signed transformation decision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RESULT · NS-50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Make the call: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Conditions met on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Make the call: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10 evidence: Signed transformation decision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Owner names next review 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Decision has no accountable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Conditions met on time; link source, reviewer and date.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Assessment reminder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5212080" cy="15544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Written SAQ</a:t>
            </a:r>
            <a:br/>
            <a:r>
              <a:t>3 open-ended questions · 60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20240"/>
            <a:ext cx="5212080" cy="15544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Practical PP</a:t>
            </a:r>
            <a:br/>
            <a:r>
              <a:t>4 artifacts · 60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977639"/>
            <a:ext cx="9418320" cy="8686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Record source, test result and assessor decision for each outcome.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Assessment flow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68880"/>
            <a:ext cx="205740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1">
                <a:solidFill>
                  <a:srgbClr val="161B26"/>
                </a:solidFill>
                <a:latin typeface="Arial"/>
              </a:defRPr>
            </a:pPr>
            <a:r>
              <a:t>01</a:t>
            </a:r>
            <a:br/>
            <a:r>
              <a:t>TRAQOM attendance</a:t>
            </a:r>
          </a:p>
        </p:txBody>
      </p:sp>
      <p:sp>
        <p:nvSpPr>
          <p:cNvPr id="9" name="Chevron 8"/>
          <p:cNvSpPr/>
          <p:nvPr/>
        </p:nvSpPr>
        <p:spPr>
          <a:xfrm>
            <a:off x="2596896" y="2926080"/>
            <a:ext cx="228600" cy="411480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43784" y="2468880"/>
            <a:ext cx="205740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1">
                <a:solidFill>
                  <a:srgbClr val="161B26"/>
                </a:solidFill>
                <a:latin typeface="Arial"/>
              </a:defRPr>
            </a:pPr>
            <a:r>
              <a:t>02</a:t>
            </a:r>
            <a:br/>
            <a:r>
              <a:t>Assessment digital attendance</a:t>
            </a:r>
          </a:p>
        </p:txBody>
      </p:sp>
      <p:sp>
        <p:nvSpPr>
          <p:cNvPr id="11" name="Chevron 10"/>
          <p:cNvSpPr/>
          <p:nvPr/>
        </p:nvSpPr>
        <p:spPr>
          <a:xfrm>
            <a:off x="4937760" y="2926080"/>
            <a:ext cx="228600" cy="411480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84648" y="2468880"/>
            <a:ext cx="205740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1">
                <a:solidFill>
                  <a:srgbClr val="161B26"/>
                </a:solidFill>
                <a:latin typeface="Arial"/>
              </a:defRPr>
            </a:pPr>
            <a:r>
              <a:t>03</a:t>
            </a:r>
            <a:br/>
            <a:r>
              <a:t>WA then PP</a:t>
            </a:r>
          </a:p>
        </p:txBody>
      </p:sp>
      <p:sp>
        <p:nvSpPr>
          <p:cNvPr id="13" name="Chevron 12"/>
          <p:cNvSpPr/>
          <p:nvPr/>
        </p:nvSpPr>
        <p:spPr>
          <a:xfrm>
            <a:off x="7278624" y="2926080"/>
            <a:ext cx="228600" cy="411480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25512" y="2468880"/>
            <a:ext cx="205740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1">
                <a:solidFill>
                  <a:srgbClr val="161B26"/>
                </a:solidFill>
                <a:latin typeface="Arial"/>
              </a:defRPr>
            </a:pPr>
            <a:r>
              <a:t>04</a:t>
            </a:r>
            <a:br/>
            <a:r>
              <a:t>LMS submission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9619488" y="2926080"/>
            <a:ext cx="228600" cy="411480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66376" y="2468880"/>
            <a:ext cx="205740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1">
                <a:solidFill>
                  <a:srgbClr val="161B26"/>
                </a:solidFill>
                <a:latin typeface="Arial"/>
              </a:defRPr>
            </a:pPr>
            <a:r>
              <a:t>05</a:t>
            </a:r>
            <a:br/>
            <a:r>
              <a:t>Sign Assessment Summary Record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CLOSE · TRAQOM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Final digital attendance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338328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Scan SSG QR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286000"/>
            <a:ext cx="338328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Confirm own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286000"/>
            <a:ext cx="338328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Resolve discrepancy with trainer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Thank you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2103120"/>
            <a:ext cx="9784080" cy="14630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300" b="1">
                <a:solidFill>
                  <a:srgbClr val="161B26"/>
                </a:solidFill>
                <a:latin typeface="Arial"/>
              </a:defRPr>
            </a:pPr>
            <a:r>
              <a:t>Submit your evidence portfolio and record the next decision owner.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