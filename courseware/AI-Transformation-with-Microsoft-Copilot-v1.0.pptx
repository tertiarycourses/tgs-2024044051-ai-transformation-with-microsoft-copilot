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WSQ COURSE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AI Transformation with Microsoft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417320" cy="1417320"/>
          </a:xfrm>
          <a:prstGeom prst="rect">
            <a:avLst/>
          </a:prstGeom>
        </p:spPr>
      </p:pic>
      <p:pic>
        <p:nvPicPr>
          <p:cNvPr id="9" name="Picture 8" descr="wsq-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46304"/>
            <a:ext cx="2331720" cy="7765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154680" y="1920240"/>
            <a:ext cx="8046720" cy="2377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700" b="1">
                <a:solidFill>
                  <a:srgbClr val="161B26"/>
                </a:solidFill>
                <a:latin typeface="Arial"/>
              </a:defRPr>
            </a:pPr>
            <a:r>
              <a:t>Four linked decisions: implementation → security → integration →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1B26"/>
                </a:solidFill>
                <a:latin typeface="Arial"/>
              </a:defRPr>
            </a:pPr>
            <a:r>
              <a:t>WSQ Course Code: TGS-2024044051   |   3 days · 24 hours   |   27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B6372"/>
                </a:solidFill>
                <a:latin typeface="Arial"/>
              </a:defRPr>
            </a:pPr>
            <a:r>
              <a:t>Conducted by 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Open TRAQOM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Scan SSG QR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Confirm own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TRAQOM / SSG QR attendance must be completed as directed by the trainer.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General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GENERAL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Name: __________________________</a:t>
            </a:r>
            <a:br/>
            <a:r>
              <a:t>Role: ____________________________</a:t>
            </a:r>
            <a:br/>
            <a:r>
              <a:t>Relevant experience: ______________</a:t>
            </a:r>
            <a:br/>
            <a:r>
              <a:t>Class / date: 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Course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COURSE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Dr. Alfred Ang</a:t>
            </a:r>
            <a:br/>
            <a:r>
              <a:t>Approved trainer for this course</a:t>
            </a:r>
            <a:br/>
            <a:r>
              <a:t>Class assignment: provider to confirm</a:t>
            </a:r>
            <a:br/>
            <a:r>
              <a:t>Profile / credentials: trainer to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Let us know each other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Your 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Copilot workflow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risk or evidence need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Share your role, one Copilot workflow and one evidence or security concern.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Synthetic data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Cite each source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Human approval before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Use only synthetic lab data; cite sources; retain human approval for external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platform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LMS/TMS course record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Current guide and slides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Labs and assessment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Access the course LMS/TMS record for current slides, guides, labs and assessment papers.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Lesson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1: implementation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2: security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3: agents and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Day 1: implementation · Day 2: security · Day 3: agents, value, 2-hour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535174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LO1: implementation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840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9574" y="2057400"/>
            <a:ext cx="2535174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LO2: security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4748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5916" y="2057400"/>
            <a:ext cx="2535174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LO3: integration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109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22258" y="2057400"/>
            <a:ext cx="2535174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LO4: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LO1 implementation · LO2 controls · LO3 integration · LO4 optimization.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Written SAQ</a:t>
            </a:r>
            <a:br/>
            <a:r>
              <a:t>3 questions · 60 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Practical PP</a:t>
            </a:r>
            <a:br/>
            <a:r>
              <a:t>4 tasks · 60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Individual · open 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Written SAQ: 3 questions / 1 hour. Practical: 4 tasks / 1 hour. Both open 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01</a:t>
            </a:r>
            <a:br/>
            <a:r>
              <a:t>TRAQOM attendance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02</a:t>
            </a:r>
            <a:br/>
            <a:r>
              <a:t>Assessment digital attendance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03</a:t>
            </a:r>
            <a:br/>
            <a:r>
              <a:t>WA then PP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5512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04</a:t>
            </a:r>
            <a:br/>
            <a:r>
              <a:t>LMS submission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619488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05</a:t>
            </a:r>
            <a:br/>
            <a:r>
              <a:t>Sign Assessment Summary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34840"/>
            <a:ext cx="10287000" cy="7772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Identity check → open-book instructions → individual evidence → assessor review → C / NYC decision.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Source and version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Artifact and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Reviewer and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Submit the written paper and four practical artifacts with source, reviewer, date and test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LO1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1B26"/>
                </a:solidFill>
                <a:latin typeface="Arial"/>
              </a:defRPr>
            </a:pPr>
            <a:r>
              <a:t>Microsoft 365 Copilot Implementation and Business Process Transformation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Tenant readiness → Readiness register with owner and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License allocation → License assignment and cohort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Graph permission scope → Access matrix with allowed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Business-process mapping → Current-to-future swimlane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LO2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1B26"/>
                </a:solidFill>
                <a:latin typeface="Arial"/>
              </a:defRPr>
            </a:pPr>
            <a:r>
              <a:t>Microsoft Copilot Administration, Security and Responsible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Identity and MFA → Conditional-access decision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Sensitivity labels → Label policy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DLP boundaries → DLP test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SharePoint oversharing → Remediation ticket 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LO3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1B26"/>
                </a:solidFill>
                <a:latin typeface="Arial"/>
              </a:defRPr>
            </a:pPr>
            <a:r>
              <a:t>Copilot Integration, AI Agents and Cross-Platform Workflows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Agent purpose contract → Agent instruction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Knowledge-source curation → Source register and index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Citation evaluation → Evaluation scorecard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Copilot Studio topic routing → Topic decision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LO4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1B26"/>
                </a:solidFill>
                <a:latin typeface="Arial"/>
              </a:defRPr>
            </a:pPr>
            <a:r>
              <a:t>AI Optimization, Performance Monitoring and Business Value Assessment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Usage telemetry → Adoption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Agent quality rubric → Evaluation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Golden test set → Regression test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078992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Time-saved estimate → Net time-saving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Tenant readiness: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Microsoft 365 tenant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Check identities, data estate and licensed workload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Readiness register with owner and gap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Admin signs off app and data prerequisites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Tenant readiness: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Microsoft 365 tenant 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Readiness register with owner and gap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Check identities, data estate and licensed workload availability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Tenant readiness: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Check identities, data estate and licensed workload availability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Admin signs off app and data prerequisites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Licensed user lacks a supported app or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Tenant readiness: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Microsoft 365 tenant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Licensed user lacks a supported app or data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Admin signs off app and data 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Readiness register with owner and gap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Tenant readiness: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Eligible users divided by target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Tenant readiness: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Readiness register with owner and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Admin signs off app and data prerequisites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Licensed user lacks a supported app or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Eligible users divided by target users; link source, reviewer and date.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allocation: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30 pilot seats and role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Match entitlement to high-frequency document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License assignment and cohort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Approve seats against role and cost center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allocation: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30 pilot seats and role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License assignment and cohort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Match entitlement to high-frequency document tasks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allocation: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Match entitlement to high-frequency document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Approve seats against role and cost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Seat assigned but service plan disabled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allocation: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30 pilot seats and role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Seat assigned but service plan disabled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Approve seats against role and cost center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License assignment and cohort list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allocation: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Active pilot users divided by assigned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allocation: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License assignment and cohort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Approve seats against role and cost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Seat assigned but service plan disabled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Active pilot users divided by assigned seats; link source, reviewer and date.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Graph permission scope: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SharePoint file ACL and test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search results under user A and user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Access matrix with allowed files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Least privilege and owner review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Graph permission scope: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SharePoint file ACL and test identities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Access matrix with allowed files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search results under user A and user 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Graph permission scope: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Compare search results under user A and user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Least privilege and owner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Overshared file appears in both result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Graph permission scope: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SharePoint file ACL and test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Overshared file appears in both result 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Least privilege and owner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Access matrix with allowed files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Graph permission scope: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Unexpected accessible files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Graph permission scope: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Access matrix with allowed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Least privilege and owner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Overshared file appears in both result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Unexpected accessible files count; link source, reviewer and date.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Business-process mapping: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request intake with six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Mark drafting, lookup and approval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Current-to-future swimlane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Keep human approval on customer-facing send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Business-process mapping: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request intake with six handoffs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Current-to-future swimlane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Mark drafting, lookup and approval steps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Business-process mapping: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Mark drafting, lookup and approval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Keep human approval on customer-facing send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Automation bypasses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Business-process mapping: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request intake with six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Automation bypasses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Keep human approval on customer-facing send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Current-to-future swimlane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Business-process mapping: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Median handoff time in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Business-process mapping: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Current-to-future swimlane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Keep human approval on customer-facing send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Automation bypasses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Median handoff time in minutes; link source, reviewer and date.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Opportunity scoring: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Ten candidate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Score volume, time, data quality and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Ranked use-case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Reject use case with ungoverned sensitive data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Opportunity scoring: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Ten candidate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Ranked use-case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Score volume, time, data quality and risk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Opportunity scoring: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Score volume, time, data quality and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Reject use case with ungoverned sensitive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High score hides missing data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Opportunity scoring: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Ten candidate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 score hides missing data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Reject use case with ungoverned sensitive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Ranked use-case backlog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Opportunity scoring: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Weighted score per use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Opportunity scoring: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Ranked use-case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Reject use case with ungoverned sensitive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 score hides missing data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Weighted score per use case; link source, reviewer and date.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 context window: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Customer email and policy excerpts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Separate task, context, constraints and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Reusable prompt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Never paste personal data into unmanaged chat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 context window: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Customer email and policy excerpts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Reusable prompt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Separate task, context, constraints and format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 context window: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Separate task, context, constraints and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Never paste personal data into unmanaged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Answer omits policy 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 context window: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Customer email and policy excerpts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Answer omits policy exception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Never paste personal data into unmanaged chat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Reusable prompt card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 context window: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Grounded claims divided by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 context window: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Reusable prompt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Never paste personal data into unmanaged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Answer omits policy 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Grounded claims divided by claims; link source, reviewer and date.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Grounded retrieval: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policy file and user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Retrieve accessible passages before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Answer with source citations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Verify source version and user permission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Grounded retrieval: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policy file and user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Answer with source citations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Retrieve accessible passages before generation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Grounded retrieval: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Retrieve accessible passages before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Verify source version and user permission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Citation points to superseded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Grounded retrieval: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policy file and user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Citation points to superseded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Verify source version and user permission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Answer with source citations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Grounded retrieval: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Supported answer statements divided by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Grounded retrieval: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Answer with source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Verify source version and user permission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Citation points to superseded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Supported answer statements divided by total; link source, reviewer and date.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proposal draft: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service improvement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Generate structure then compare to source 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proposal with evidence comments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Human owns final facts and approval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proposal draft: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service improvement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Draft proposal with evidence comments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Generate structure then compare to source register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proposal draft: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Generate structure then compare to source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Human owns final facts and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Unsupported cost claim enters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proposal draft: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service improvement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Unsupported cost claim enters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Human owns final facts and approval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Draft proposal with evidence comments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proposal draft: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Verified claims divided by total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proposal draft: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Draft proposal with evidence 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Human owns final facts and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Unsupported cost claim enters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Verified claims divided by total claims; link source, reviewer and date.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service analysis: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ticket table: 120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Aggregate cycle time by issue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Pivot table and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Check formula range and outliers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service analysis: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ticket table: 120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Pivot table and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Aggregate cycle time by issue category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service analysis: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Aggregate cycle time by issue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Check formula range and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Blank dates skew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service analysis: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ticket table: 120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Blank dates skew mean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formula range and outliers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Pivot table and chart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service analysis: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Median cycle time by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service analysis: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Pivot table and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formula range and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Blank dates skew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Median cycle time by category; link source, reviewer and date.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executive story: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Word findings and Excel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Create a three-message decision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Five-slide review deck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Presenter validates every number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executive story: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Word findings and Excel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Five-slide review deck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Create a three-message decision deck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executive story: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Create a three-message decision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Presenter validates every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Chart title and source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executive story: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Word findings and Excel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Chart title and source 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Presenter validates every number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Five-slide review deck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executive story: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figures divided by checked figures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executive story: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Five-slide review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Presenter validates every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Chart title and source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figures divided by checked figures; link source, reviewer and date.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response workflow: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customer escalation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acknowledgement and response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Reviewed reply with owner and deadline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Send remains a human action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response workflow: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customer escalation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Reviewed reply with owner and deadline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acknowledgement and response options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response workflow: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Draft acknowledgement and response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Send remains a human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Tone implies an unapproved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response workflow: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customer escalation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Tone implies an unapproved commitment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Send remains a human 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Reviewed reply with owner and deadline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response workflow: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Replies with explicit next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response workflow: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Reviewed reply with owner and deadline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Send remains a human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Tone implies an unapproved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Replies with explicit next owner; link source, reviewer and date.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Teams meeting synthesis: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transcript with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Extract decisions, dissent and open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Action register with timestamps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Meeting owner confirms transcript accuracy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Teams meeting synthesis: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transcript with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Action register with timestamps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Extract decisions, dissent and open questions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Teams meeting synthesis: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Extract decisions, dissent and open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Meeting owner confirms transcript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Speaker attribution is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Teams meeting synthesis: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transcript with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Speaker attribution is wrong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Meeting owner confirms transcript accuracy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Action register with timestamps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Teams meeting synthesis: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Confirmed actions divided by extracted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Teams meeting synthesis: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Action register with timestamps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Meeting owner confirms transcript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Speaker attribution is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Confirmed actions divided by extracted actions; link source, reviewer and date.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ARCH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rollout: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departments and pilot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Sequence champions, learning and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30-60-90 day rollout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Gate wave two on measured quality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rollout: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departments and pilot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30-60-90 day rollout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Sequence champions, learning and support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CONFIG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rollout: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Sequence champions, learning and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Gate wave two on measured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Low adoption despite 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rollout: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departments and pilot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Low adoption despite licenses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Gate wave two on measured quality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30-60-90 day rollout plan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rollout: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Weekly active usage by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rollout: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https://learn.microsoft.com/en-us/copilot/microsoft-365/microsoft-365-copilot-architecture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30-60-90 day rollout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Gate wave two on measured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Low adoption despite 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Weekly active usage by cohort; link source, reviewer and date.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Identity and MFA: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User roles and sign-in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Require appropriate identity assurance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Conditional-access decision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Security team owns exception process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Identity and MFA: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User roles and sign-in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Conditional-access decision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Require appropriate identity assurance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Identity and MFA: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Require appropriate identity assurance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Security team owns exception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Shared account bypasses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Identity and MFA: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User roles and sign-in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Shared account bypasses attribution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Security team owns exception process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Conditional-access decision log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Identity and MFA: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Protected sign-ins divided by sign-ins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Identity and MFA: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Conditional-access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Security team owns exception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Shared account bypasses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Protected sign-ins divided by sign-ins; link source, reviewer and date.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labels: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Public, internal and confidential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Map labels to sharing and Copilot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Label policy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Data owner reviews label changes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labels: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Public, internal and confidential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Label policy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Map labels to sharing and Copilot exposure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labels: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Map labels to sharing and Copilot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Data owner reviews label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Confidential file labelled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labels: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Public, internal and confidential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Confidential file labelled public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reviews label changes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Label policy matrix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labels: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Mislabelled sampled files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labels: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Label policy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reviews label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Confidential file labelled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Mislabelled sampled files count; link source, reviewer and date.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DLP boundaries: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Prompt containing synthetic account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Block or warn for restricted data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DLP test 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Policy owner approves exceptions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DLP boundaries: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Prompt containing synthetic account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DLP test 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Block or warn for restricted data movement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DLP boundaries: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Block or warn for restricted data movement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Policy owner approves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Sensitive output leaves approved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DLP boundaries: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Prompt containing synthetic account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Sensitive output leaves approved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Policy owner approves exceptions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DLP test evidence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DLP boundaries: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Blocked risky attempts per test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DLP boundaries: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DLP test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Policy owner approves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Sensitive output leaves approved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Blocked risky attempts per test set; link source, reviewer and date.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SharePoint oversharing: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Site members, visitors and anonymous links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inherited access and link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Remediation ticket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Owner removes broad access before pilot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SharePoint oversharing: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Site members, visitors and anonymous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Remediation ticket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Review inherited access and link types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SharePoint oversharing: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Review inherited access and link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Owner removes broad access before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Copilot surfaces a broadly shared secret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SharePoint oversharing: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Site members, visitors and anonymous links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Copilot surfaces a broadly shared secret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removes broad access before pilot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Remediation ticket list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SharePoint oversharing: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High-risk links remediated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SharePoint oversharing: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Remediation ticket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removes broad access before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Copilot surfaces a broadly shared secret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High-risk links remediated; link source, reviewer and date.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Retention and records: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Contract lifecycle and retention schedule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Apply record class to source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Retention decision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Records officer approves disposal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Retention and records: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Contract lifecycle and retention schedule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Retention decision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Apply record class to source documents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Retention and records: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Apply record class to source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Records officer approves disposal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Old draft retrieved as current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Retention and records: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Contract lifecycle and retention schedule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Old draft retrieved as current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Records officer approves disposal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Retention decision table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Retention and records: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Current-version retrieval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Retention and records: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Retention decision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Records officer approves disposal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Old draft retrieved as current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Current-version retrieval rate; link source, reviewer and date.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Audit event trail: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action and user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Capture time, actor, source and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Traceable audit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Admin preserves logs per policy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Audit event trail: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Agent action and user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Traceable audit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Capture time, actor, source and action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Audit event trail: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Capture time, actor, source and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Admin preserves logs per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Action cannot be attributed to a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Audit event trail: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Agent action and user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Action cannot be attributed to a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Admin preserves logs per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Traceable audit record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Audit event trail: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Trace-complete actions divided by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Audit event trail: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Traceable audit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Admin preserves logs per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Action cannot be attributed to a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Trace-complete actions divided by actions; link source, reviewer and date.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Prompt-injection boundary: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Document with an embedded hostile instruction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Treat retrieved text as data, not instruction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Injection test and refusal trace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Tool action requires explicit authorization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Prompt-injection boundary: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Document with an embedded hostile instruction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Injection test and refusal trace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Treat retrieved text as data, not instruction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Prompt-injection boundary: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Treat retrieved text as data, not instruction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Tool action requires explicit 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Agent follows source text as a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Prompt-injection boundary: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Document with an embedded hostile instruction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follows source text as a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Tool action requires explicit authorization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Injection test and refusal trace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Prompt-injection boundary: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Injected commands ignored per test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Prompt-injection boundary: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Injection test and refusal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Tool action requires explicit 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follows source text as a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Injected commands ignored per test set; link source, reviewer and date.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Fabrication review: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Answer with five factual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Check each claim against current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Claim-verification worksheet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Human reviewer signs high-impact output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Fabrication review: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Answer with five factual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Claim-verification worksheet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Check each claim against current citations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Fabrication review: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Check each claim against current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Human reviewer signs high-impact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Plausible unsupported number survives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Fabrication review: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Answer with five factual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Plausible unsupported number survives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Human reviewer signs high-impact output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Claim-verification worksheet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Fabrication review: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Supported claims divided by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Fabrication review: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Claim-verification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Human reviewer signs high-impact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Plausible unsupported number survives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Supported claims divided by claims; link source, reviewer and date.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Tool permission design: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Read and write connector scopes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Separate read-only pilot from write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Permission grant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Entra admin consents only minimum scope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Tool permission design: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Read and write connector scopes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Permission grant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Separate read-only pilot from write actions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Tool permission design: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Separate read-only pilot from write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Entra admin consents only minimum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Write tool used in a read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Tool permission design: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Read and write connector scopes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Write tool used in a read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Entra admin consents only minimum scope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Permission grant register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Tool permission design: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Unused privileged grants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Tool permission design: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Permission grant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Entra admin consents only minimum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Write tool used in a read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Unused privileged grants count; link source, reviewer and date.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Environment policy: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Dev, test and production environments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Apply connector and publishing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Environment control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Promote only after test evidence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Environment policy: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Dev, test and production environments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Environment control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Apply connector and publishing policy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Environment policy: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Apply connector and publishing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Promote only after test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Maker publishes from unrestricted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Environment policy: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Dev, test and production environments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Maker publishes from unrestricted default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Promote only after test 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Environment control matrix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Environment policy: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Policy violations by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Environment policy: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Environment control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Promote only after test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Maker publishes from unrestricted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Policy violations by environment; link source, reviewer and date.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disclosure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Contain, preserve evidence, notify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Incident timeline and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Security owner determines escalation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disclosure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Incident timeline and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Contain, preserve evidence, notify owner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Contain, preserve evidence, notify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Security owner determines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Evidence lost during agent disable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disclosure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Evidence lost during agent disable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Security owner determines escalation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Incident timeline and action log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Time to containment in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Incident timeline and action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Security owner determines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Evidence lost during agent disable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Time to containment in minutes; link source, reviewer and date.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ARCH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decision gate: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customer refund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Require reviewer before irreversible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Approval record with rationale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Named business owner signs release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decision gate: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Draft customer refund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Approval record with rationale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Require reviewer before irreversible action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CONFIG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decision gate: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Require reviewer before irreversible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Named business owner signs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Workflow auto-issues refund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decision gate: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Draft customer refund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Workflow auto-issues refund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Named business owner signs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Approval record with rationale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decision gate: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Unapproved actions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decision gate: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https://learn.microsoft.com/en-us/microsoft-copilot-studio/security-faq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Approval record with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Named business owner signs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Workflow auto-issues refund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Unapproved actions count; link source, reviewer and date.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purpose contract: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Helpdesk scope and user intents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Define allowed requests and refusals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instruction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Scope owner approves boundary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purpose contract: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Helpdesk scope and user intents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instruction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Define allowed requests and refusals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purpose contract: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Define allowed requests and refusals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Scope owner approves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Agent answers outside approved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purpose contract: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Helpdesk scope and user intents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answers outside approved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Scope owner approves boundary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instruction card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purpose contract: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In-scope resolution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purpose contract: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instruction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Scope owner approves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answers outside approved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In-scope resolution rate; link source, reviewer and date.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Knowledge-source curation: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Policy PDFs and SharePoint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Choose authoritative files with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 register and index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Remove stale or duplicate files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Knowledge-source curation: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Policy PDFs and SharePoint 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 register and index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Choose authoritative files with metadata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Knowledge-source curation: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Choose authoritative files with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Remove stale or duplicate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Agent cites archived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Knowledge-source curation: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Policy PDFs and SharePoint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cites archived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Remove stale or duplicate files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 register and index plan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Knowledge-source curation: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Current-source citation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Knowledge-source curation: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Source register and index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Remove stale or duplicate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cites archived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Current-source citation rate; link source, reviewer and date.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Citation evaluation: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Twenty grounded test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answers to source passages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Evaluation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Fail release below evidence threshold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Citation evaluation: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Twenty grounded test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Evaluation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answers to source passages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Citation evaluation: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Compare answers to source passages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Fail release below evidence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Citation exists but does not support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Citation evaluation: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Twenty grounded test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Citation exists but does not support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Fail release below evidence threshold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Evaluation scorecard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Citation evaluation: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Supported citations divided by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Citation evaluation: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Evaluation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Fail release below evidence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Citation exists but does not support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Supported citations divided by citations; link source, reviewer and date.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Studio topic routing: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Password reset and leave-query intents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Route to topic or generative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Topic decision 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Escalate unsupported requests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Studio topic routing: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Password reset and leave-query intents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Topic decision 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Route to topic or generative answer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Studio topic routing: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Route to topic or generative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Escalate unsupported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Wrong topic triggers 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Studio topic routing: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Password reset and leave-query intents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Wrong topic triggers a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Escalate unsupported requests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Topic decision flow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Studio topic routing: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route per test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Studio topic routing: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Topic decision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Escalate unsupported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Wrong topic triggers 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route per test case; link source, reviewer and date.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Connector action: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Case-create API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Map validated input to action parameters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Action contract and sample payload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Validate inputs and consent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Connector action: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Case-create API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Action contract and sample payload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Map validated input to action parameters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Connector action: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Map validated input to action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Validate inputs and consent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Missing case owner causes bad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Connector action: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Case-create API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Missing case owner causes bad 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Validate inputs and consent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Action contract and sample payload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Connector action: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Successful validated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Connector action: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Action contract and sample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Validate inputs and consent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Missing case owner causes bad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Successful validated actions; link source, reviewer and date.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Approval action: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Low and high value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Branch at amount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Approval path with actor and timestamp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No silent auto-approval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Approval action: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Low and high value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Approval path with actor and timestamp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Branch at amount threshold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Approval action: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Branch at amount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No silent auto-approval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High-value request takes fast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Approval action: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Low and high value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High-value request takes fast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silent auto-approval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Approval path with actor and timestamp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Approval action: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Threshold breaches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Approval action: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Approval path with actor and timestamp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silent auto-approval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High-value request takes fast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Threshold breaches count; link source, reviewer and date.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 Automate flow: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Form submission and structured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Trigger, validate, approve, write, notify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Flow run trace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Use service identity with least privilege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 Automate flow: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Form submission and structured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Flow run trace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Trigger, validate, approve, write, notify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 Automate flow: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Trigger, validate, approve, write, notify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Use service identity with least privilege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Duplicate trigger creates two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 Automate flow: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Form submission and structured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Duplicate trigger creates two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Use service identity with least privilege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Flow run trace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 Automate flow: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Idempotent completions divided by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 Automate flow: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Flow run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Use service identity with least privilege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Duplicate trigger creates two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Idempotent completions divided by runs; link source, reviewer and date.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Dynamics 365 context: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account and case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Ground response in permitted CRM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Case summary and next-step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Respect record-level access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Dynamics 365 context: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account and case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Case summary and next-step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Ground response in permitted CRM fields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Dynamics 365 context: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Ground response in permitted CRM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Respect record-level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Summary includes another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Dynamics 365 context: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account and case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Summary includes another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Respect record-level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Case summary and next-step draft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Dynamics 365 context: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Cross-account leakage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Dynamics 365 context: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Case summary and next-step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Respect record-level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Summary includes another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Cross-account leakage count; link source, reviewer and date.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Foundry model choice: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Latency, quality and residency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candidate models on test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Model decision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Approve budget and data region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Foundry model choice: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Latency, quality and residency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Model decision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candidate models on test set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Foundry model choice: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Compare candidate models on test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Approve budget and data 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Cheaper model fails critical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Foundry model choice: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Latency, quality and residency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Cheaper model fails critical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Approve budget and data region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Model decision card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Foundry model choice: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Quality score per cost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Foundry model choice: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Model decision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Approve budget and data 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Cheaper model fails critical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Quality score per cost unit; link source, reviewer and date.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MCP tool registration: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Tool schema and server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Expose a bounded tool to an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Tool catalog with scopes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Authenticate and log each invocation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MCP tool registration: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Tool schema and server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Tool catalog with scopes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Expose a bounded tool to an agent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MCP tool registration: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Expose a bounded tool to an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Authenticate and log each invocation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Untrusted server gains broad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MCP tool registration: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Tool schema and server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Untrusted server gains broad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Authenticate and log each invocation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Tool catalog with scopes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MCP tool registration: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Authorized calls divided by all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MCP tool registration: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Tool catalog with scopes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Authenticate and log each invocation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Untrusted server gains broad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Authorized calls divided by all calls; link source, reviewer and date.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A2A handoff: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agent and billing agent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Send task with identity and context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Handoff trace and result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Entra authorization at endpoint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A2A handoff: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agent and billing agent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Handoff trace and result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Send task with identity and context limits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A2A handoff: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Send task with identity and context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Entra authorization at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Receiving agent loses context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A2A handoff: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agent and billing agent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Receiving agent loses context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Entra authorization at endpoint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Handoff trace and result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A2A handoff: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Successful authorized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A2A handoff: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Handoff trace and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Entra authorization at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Receiving agent loses context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Successful authorized handoffs; link source, reviewer and date.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Multi-agent orchestration: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Research, policy and drafting subagents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Sequence outputs with conflict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Orchestration map and provenance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Supervisor approves final answer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Multi-agent orchestration: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Research, policy and drafting subagents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Orchestration map and provenance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Sequence outputs with conflict resolution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Multi-agent orchestration: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Sequence outputs with conflict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Supervisor approves final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Agents amplify an unsupported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Multi-agent orchestration: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Research, policy and drafting subagents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Agents amplify an unsupported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Supervisor approves final 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Orchestration map and provenance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Multi-agent orchestration: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Conflicts detected before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Multi-agent orchestration: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Orchestration map and provenance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Supervisor approves final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Agents amplify an unsupported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Conflicts detected before release; link source, reviewer and date.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ARCH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Cross-platform error handling: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CRM timeout and retry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Retry safely then queue for human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Dead-letter record with correlation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No duplicate write on retry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Cross-platform error handling: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CRM timeout and retry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Dead-letter record with correlation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Retry safely then queue for human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CONFIG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Cross-platform error handling: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Retry safely then queue for 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No duplicate write on retry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Retry creates duplicate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Cross-platform error handling: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CRM timeout and retry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Retry creates duplicate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duplicate write on retry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Dead-letter record with correlation ID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Cross-platform error handling: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Duplicate-free retries divided by retries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Cross-platform error handling: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https://learn.microsoft.com/en-us/microsoft-copilot-studio/knowledge-improve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Dead-letter record with correlation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duplicate write on retry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Retry creates duplicate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Duplicate-free retries divided by retries; link source, reviewer and date.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Usage telemetry: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Weekly usage export by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Join license, active use and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 dashboard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Aggregate before sharing individual trends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Usage telemetry: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Weekly usage export by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Adoption dashboard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Join license, active use and role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Usage telemetry: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Join license, active use and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Aggregate before sharing individual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Metric counts sign-in as productive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Usage telemetry: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Weekly usage export by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Metric counts sign-in as productive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Aggregate before sharing individual trends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Adoption dashboard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Usage telemetry: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Weekly active users divided by licensed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Usage telemetry: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Adoption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Aggregate before sharing individual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Metric counts sign-in as productive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Weekly active users divided by licensed; link source, reviewer and date.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quality rubric: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Twenty task prompts with known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Score accuracy, evidence and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Evaluation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Block release on critical safety failure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quality rubric: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Twenty task prompts with known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Evaluation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Score accuracy, evidence and safety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quality rubric: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Score accuracy, evidence and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Block release on critical safety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High average hides one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quality rubric: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Twenty task prompts with known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 average hides one severe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Block release on critical safety failure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Evaluation matrix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quality rubric: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Pass rate per risk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quality rubric: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Evaluation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Block release on critical safety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 average hides one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Pass rate per risk tier; link source, reviewer and date.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Golden test set: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Representative questions and edge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Version expected results and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Regression test 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Data owner approves test updates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Golden test set: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Representative questions and edge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Regression test 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Version expected results and sources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Golden test set: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Version expected results and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Data owner approves test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Test set contains stale expected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Golden test set: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Representative questions and edge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Test set contains stale expected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approves test updates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Regression test dataset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Golden test set: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Changed results per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Golden test set: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Regression test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approves test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Test set contains stale expected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Changed results per release; link source, reviewer and date.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Time-saved estimate: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Baseline 18 min and assisted 11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Subtract review time and scale by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Net time-saving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Validate observed samples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Time-saved estimate: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Baseline 18 min and assisted 11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Net time-saving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Subtract review time and scale by volume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Time-saved estimate: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Subtract review time and scale by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Validate observed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Gross saving ignores review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Time-saved estimate: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Baseline 18 min and assisted 11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Gross saving ignores review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Validate observed samples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Net time-saving model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Time-saved estimate: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Net minutes saved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Time-saved estimate: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Net time-saving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Validate observed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Gross saving ignores review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Net minutes saved per task; link source, reviewer and date.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ROI model: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Seats, license cost, volume and wage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realized value to total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Conservative ROI worksheet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Separate measured from assumed inputs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ROI model: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Seats, license cost, volume and wage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Conservative ROI worksheet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realized value to total costs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ROI model: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Compare realized value to total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Separate measured from assumed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Benefit double-counts the same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ROI model: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Seats, license cost, volume and wage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Benefit double-counts the same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Separate measured from assumed 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Conservative ROI worksheet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ROI model: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(Value minus cost) divided by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ROI model: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Conservative ROI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Separate measured from assumed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Benefit double-counts the same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(Value minus cost) divided by cost; link source, reviewer and date.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optimization: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Seat use by department and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Reclaim idle seats after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Reallocation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Line manager confirms exceptions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optimization: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Seat use by department and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Reallocation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Reclaim idle seats after review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optimization: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Reclaim idle seats after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Line manager confirms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Idle seats kept while pilot waits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optimization: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Seat use by department and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Idle seats kept while pilot waits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Line manager confirms exceptions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Reallocation recommendation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optimization: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Active seats divided by assigned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License optimization: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Reallocation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Line manager confirms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Idle seats kept while pilot waits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Active seats divided by assigned seats; link source, reviewer and date.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Latency budget: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Prompt, retrieval and tool timings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Decompose p50 and p95 response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Latency waterfall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Do not remove safety checks for speed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Latency budget: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Prompt, retrieval and tool timings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Latency waterfall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Decompose p50 and p95 response time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Latency budget: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Decompose p50 and p95 response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Do not remove safety checks for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Tool call dominates p95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Latency budget: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Prompt, retrieval and tool timings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Tool call dominates p95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Do not remove safety checks for speed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Latency waterfall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Latency budget: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p95 seconds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Latency budget: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Latency waterfall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Do not remove safety checks for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Tool call dominates p95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p95 seconds per task; link source, reviewer and date.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Error budget: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Failed action and unsafe answer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Set severity-weighted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Error-budget burn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Pause rollout at threshold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Error budget: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Failed action and unsafe answer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Error-budget burn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Set severity-weighted threshold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Error budget: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Set severity-weighted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Pause rollout at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Aggregate rate masks severe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Error budget: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Failed action and unsafe answer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Aggregate rate masks severe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Pause rollout at threshold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Error-budget burn chart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Error budget: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Severe failures per 1000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Error budget: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Error-budget burn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Pause rollout at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Aggregate rate masks severe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Severe failures per 1000 tasks; link source, reviewer and date.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triage: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User corrections and support tickets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Tag source, prompt, policy or tool cause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Prioritized defect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Preserve evidence and owner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triage: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User corrections and support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Prioritized defect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Tag source, prompt, policy or tool cause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triage: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Tag source, prompt, policy or tool cause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Preserve evidence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Prompt tweak hides source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triage: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User corrections and support tickets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Prompt tweak hides source defect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Preserve evidence and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Prioritized defect backlog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triage: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Median time to close defect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triage: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Prioritized defect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Preserve evidence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Prompt tweak hides source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Median time to close defect; link source, reviewer and date.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Experiment design: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and comparison cohorts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Hold task and measurement constant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Evaluation protocol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Avoid claiming causality from correlation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Experiment design: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and comparison cohorts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Evaluation protocol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Hold task and measurement constant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Experiment design: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Hold task and measurement constant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Avoid claiming causality from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Different work mix biases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Experiment design: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and comparison cohorts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Different work mix biases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Avoid claiming causality from correlation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Evaluation protocol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Experiment design: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Adjusted change in cycle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Experiment design: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Evaluation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Avoid claiming causality from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Different work mix biases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Adjusted change in cycle time; link source, reviewer and date.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Rollout wave gate: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QA, security and adoption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Evaluate go or hold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Wave decision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Named sponsor owns release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Rollout wave gate: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QA, security and adoption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Wave decision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Evaluate go or hold criteria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Rollout wave gate: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Evaluate go or hold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Named sponsor owns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Wave launches without risk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Rollout wave gate: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QA, security and adoption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Wave launches without risk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Named sponsor owns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Wave decision record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Rollout wave gate: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Criteria passed divided by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Rollout wave gate: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Wave decision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Named sponsor owns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Wave launches without risk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Criteria passed divided by required; link source, reviewer and date.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ARCH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Retirement control: system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Unused agent and knowledge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Disable access and retain required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Decommission checklist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Control point: Verify no dependent workflow remains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Retirement control: worked input and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Unused agent and knowledge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Decommission checklist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Disable access and retain required records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CONFIG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Retirement control: control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PERMIT  |  Disable access and retain required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REVIEW  |  Verify no dependent workflow remains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BLOCK OR ESCALATE  |  Connector remains active after agent removal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actor · time · source version · decision · outcome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Retirement control: failure trace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Unused agent and knowledge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Connector remains active after agent removal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Verify no dependent workflow remains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Decommission checklist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Retirement control: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Orphaned privileged grants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Retirement control: acceptance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Decommission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Verify no dependent workflow remains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Connector remains active after agent removal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Orphaned privileged grants count; link source, reviewer and date.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reminder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15544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Written SAQ</a:t>
            </a:r>
            <a:br/>
            <a:r>
              <a:t>3 open-ended questions · 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212080" cy="15544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Practical PP</a:t>
            </a:r>
            <a:br/>
            <a:r>
              <a:t>4 artifacts · 60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77639"/>
            <a:ext cx="941832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Record source, test result and assessor decision for each outcome.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01</a:t>
            </a:r>
            <a:br/>
            <a:r>
              <a:t>TRAQOM attendance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02</a:t>
            </a:r>
            <a:br/>
            <a:r>
              <a:t>Assessment digital attendance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03</a:t>
            </a:r>
            <a:br/>
            <a:r>
              <a:t>WA then PP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5512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04</a:t>
            </a:r>
            <a:br/>
            <a:r>
              <a:t>LMS submission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619488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05</a:t>
            </a:r>
            <a:br/>
            <a:r>
              <a:t>Sign Assessment Summary Record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 · TRAQOM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Final 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Scan SSG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Confirm own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Resolve discrepancy with trainer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03120"/>
            <a:ext cx="9784080" cy="14630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300" b="1">
                <a:solidFill>
                  <a:srgbClr val="161B26"/>
                </a:solidFill>
                <a:latin typeface="Arial"/>
              </a:defRPr>
            </a:pPr>
            <a:r>
              <a:t>Submit your evidence portfolio and record the next decision owner.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