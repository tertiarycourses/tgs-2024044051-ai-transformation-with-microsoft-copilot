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WSQ COURSE · v2.0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AI Transformation with Microsoft Copilot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</a:t>
            </a:r>
          </a:p>
        </p:txBody>
      </p:sp>
      <p:pic>
        <p:nvPicPr>
          <p:cNvPr id="8" name="Picture 7" descr="provid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28800"/>
            <a:ext cx="1417320" cy="1417320"/>
          </a:xfrm>
          <a:prstGeom prst="rect">
            <a:avLst/>
          </a:prstGeom>
        </p:spPr>
      </p:pic>
      <p:pic>
        <p:nvPicPr>
          <p:cNvPr id="9" name="Picture 8" descr="wsq-logo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1160" y="146304"/>
            <a:ext cx="2331720" cy="776503"/>
          </a:xfrm>
          <a:prstGeom prst="rect">
            <a:avLst/>
          </a:prstGeom>
        </p:spPr>
      </p:pic>
      <p:pic>
        <p:nvPicPr>
          <p:cNvPr id="10" name="Picture 9" descr="executive-strate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828800"/>
            <a:ext cx="5303520" cy="298323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8640" y="3246120"/>
            <a:ext cx="5212080" cy="15087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100" b="1">
                <a:solidFill>
                  <a:srgbClr val="161B26"/>
                </a:solidFill>
                <a:latin typeface="Arial"/>
              </a:defRPr>
            </a:pPr>
            <a:r>
              <a:t>Four executive decisions: strategy → governance → operating model → measurable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161B26"/>
                </a:solidFill>
                <a:latin typeface="Arial"/>
              </a:defRPr>
            </a:pPr>
            <a:r>
              <a:t>WSQ Course Code: TGS-2024044051   |   3 days · 24 hours   |   27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5778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5B6372"/>
                </a:solidFill>
                <a:latin typeface="Arial"/>
              </a:defRPr>
            </a:pPr>
            <a:r>
              <a:t>Conducted by Tertiary Infotech Academy Pte Ltd · UEN 201200696W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71616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Informed by AB-730 business use and AB-100 strategic decisions · This WSQ course is not Microsoft exam preparation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Digital attendance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Open TRAQOM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Scan SSG QR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Confirm own attendance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TRAQOM / SSG QR attendance must be completed as directed by the trainer.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General trainer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783080"/>
            <a:ext cx="10058400" cy="4160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331720"/>
            <a:ext cx="1965960" cy="1965960"/>
          </a:xfrm>
          <a:prstGeom prst="ellipse">
            <a:avLst/>
          </a:prstGeom>
          <a:solidFill>
            <a:srgbClr val="ECFA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500" b="1"/>
            </a:pPr>
            <a: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03120"/>
            <a:ext cx="6309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GENERAL TRAINER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34640"/>
            <a:ext cx="6309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61B26"/>
                </a:solidFill>
                <a:latin typeface="Arial"/>
              </a:defRPr>
            </a:pPr>
            <a:r>
              <a:t>Name: __________________________</a:t>
            </a:r>
            <a:br/>
            <a:r>
              <a:t>Role: ____________________________</a:t>
            </a:r>
            <a:br/>
            <a:r>
              <a:t>Relevant experience: ______________</a:t>
            </a:r>
            <a:br/>
            <a:r>
              <a:t>Class / date: 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Course trainer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51560" y="1783080"/>
            <a:ext cx="10058400" cy="4160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08760" y="2331720"/>
            <a:ext cx="1965960" cy="1965960"/>
          </a:xfrm>
          <a:prstGeom prst="ellipse">
            <a:avLst/>
          </a:prstGeom>
          <a:solidFill>
            <a:srgbClr val="ECFA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500" b="1"/>
            </a:pPr>
            <a:r>
              <a:t>AA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2103120"/>
            <a:ext cx="6492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Arial"/>
              </a:defRPr>
            </a:pPr>
            <a:r>
              <a:t>COURSE TRAINER PROFILE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77639" y="2834640"/>
            <a:ext cx="6492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61B26"/>
                </a:solidFill>
                <a:latin typeface="Arial"/>
              </a:defRPr>
            </a:pPr>
            <a:r>
              <a:t>Dr. Alfred Ang</a:t>
            </a:r>
            <a:br/>
            <a:r>
              <a:t>Approved trainer for this course</a:t>
            </a:r>
            <a:br/>
            <a:r>
              <a:t>Class assignment: provider to confirm</a:t>
            </a:r>
            <a:br/>
            <a:r>
              <a:t>Profile / credentials: trainer to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Let us know each other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Your leadership role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One Copilot opportunity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One decision risk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Share your leadership role, one Copilot opportunity and one decision concern.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Ground rules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Synthetic data only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Cite each source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Human approval before 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Use only synthetic lab data; cite sources; retain human approval for external actions.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Learning platform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LMS/TMS course record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Current guide and slides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Labs and assessment papers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Access the course LMS/TMS record for current slides, guides, labs and assessment papers.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Lesson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1: strategy and Copilot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2: governance and use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Day 3: value and scale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Day 1: strategy and direct Copilot use · Day 2: governance and operating model · Day 3: value, scale and assessment.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Learning outcomes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2535174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LO1: implementation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4840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49574" y="2057400"/>
            <a:ext cx="2535174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LO2: security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84748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85916" y="2057400"/>
            <a:ext cx="2535174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LO3: integration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109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22258" y="2057400"/>
            <a:ext cx="2535174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LO4: optimization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LO1 implementation · LO2 controls · LO3 integration · LO4 optimization.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briefing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Written SAQ</a:t>
            </a:r>
            <a:br/>
            <a:r>
              <a:t>3 questions · 60 min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Practical PP</a:t>
            </a:r>
            <a:br/>
            <a:r>
              <a:t>4 tasks · 60 min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Individual · open 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Written SAQ: 3 questions / 1 hour. Practical: 4 tasks / 1 hour. Both open book.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01</a:t>
            </a:r>
            <a:br/>
            <a:r>
              <a:t>TRAQOM attendance</a:t>
            </a:r>
          </a:p>
        </p:txBody>
      </p:sp>
      <p:sp>
        <p:nvSpPr>
          <p:cNvPr id="9" name="Chevron 8"/>
          <p:cNvSpPr/>
          <p:nvPr/>
        </p:nvSpPr>
        <p:spPr>
          <a:xfrm>
            <a:off x="2596896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3784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02</a:t>
            </a:r>
            <a:br/>
            <a:r>
              <a:t>Assessment digital attendance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4937760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4648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03</a:t>
            </a:r>
            <a:br/>
            <a:r>
              <a:t>WA then PP</a:t>
            </a:r>
          </a:p>
        </p:txBody>
      </p:sp>
      <p:sp>
        <p:nvSpPr>
          <p:cNvPr id="13" name="Chevron 12"/>
          <p:cNvSpPr/>
          <p:nvPr/>
        </p:nvSpPr>
        <p:spPr>
          <a:xfrm>
            <a:off x="7278624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25512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04</a:t>
            </a:r>
            <a:br/>
            <a:r>
              <a:t>LMS submission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9619488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66376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05</a:t>
            </a:r>
            <a:br/>
            <a:r>
              <a:t>Sign Assessment Summary Record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4434840"/>
            <a:ext cx="10287000" cy="7772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Identity check → open-book instructions → individual evidence → assessor review → C / NYC decision.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ADMINISTRATION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evidence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Source and version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60520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61688" y="2057400"/>
            <a:ext cx="3447288" cy="16002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Decision artifact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808976" y="2852928"/>
            <a:ext cx="201168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010144" y="2057400"/>
            <a:ext cx="3447288" cy="16002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Reviewer and date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251960"/>
            <a:ext cx="1028700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Submit the written paper and four executive decision artifacts with source, reviewer, date and measures.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LO1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61B26"/>
                </a:solidFill>
                <a:latin typeface="Arial"/>
              </a:defRPr>
            </a:pPr>
            <a:r>
              <a:t>Set the Copilot Transformation Strategy and Lead by Example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289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Transformation ambition → One-page transformation mandate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Value pool map → Value pool map with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Executive sponsor → Sponsor decision and named accountable owner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Stakeholder alignment → Stakeholder trade-off matrix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LO2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Govern Copilot Use and Protect Business Decisions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</a:t>
            </a:r>
          </a:p>
        </p:txBody>
      </p:sp>
      <p:pic>
        <p:nvPicPr>
          <p:cNvPr id="8" name="Picture 7" descr="executive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289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Information boundary → Data-use decision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Permission reality → Access-test evidence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Source reliability → Claim-verification worksheet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Human approval → Approval decision record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LO3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Integrate Copilot into the Executive Operating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</a:t>
            </a:r>
          </a:p>
        </p:txBody>
      </p:sp>
      <p:pic>
        <p:nvPicPr>
          <p:cNvPr id="8" name="Picture 7" descr="executive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289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Executive meeting → Decision and action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Outlook decision flow → Prioritised response draft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Cross-functional handoff → Future-state handoff 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Copilot integration choice → Integration decision card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LO4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Measure Value, Scale Adoption and Report to the Board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1783080"/>
            <a:ext cx="5029200" cy="282892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73736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Use-case portfolio → Ranked opportunity portfolio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69748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Adoption baseline → Adoption baseline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65760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Enablement design → 90-day enablement calendar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617720"/>
            <a:ext cx="5440680" cy="7315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400" b="0">
                <a:solidFill>
                  <a:srgbClr val="161B26"/>
                </a:solidFill>
                <a:latin typeface="Arial"/>
              </a:defRPr>
            </a:pPr>
            <a:r>
              <a:t>Feedback loop → Prioritised improvement backlog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Copilot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01: Executive transformation mandate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One-page transformation mandate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CEO approves a measurable business problem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Transformation ambition: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service division misses response targets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Chat to compare three improvement ambitions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One-page transformation mandate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CEO approves a measurable business problem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Transformation ambition: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service division misses response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One-page transformation mandate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Chat to compare three improvement ambitions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Transformation ambition: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Chat to compare three improvement ambitions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CEO approves a measurable business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Ambition is only a technology slogan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Transformation ambition: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service division misses response targets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Ambition is only a technology slogan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CEO approves a measurable business problem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One-page transformation mandate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Transformation ambition: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Target service-cycle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Transformation ambition: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One-page transformation mandate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CEO approves a measurable business problem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Ambition is only a technology slogan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Target service-cycle reduction; link source, reviewer and date.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Value pool map: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Five departments and task-volume estimates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to cluster recurring knowledge-work opportunities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Value pool map with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Keep only opportunities tied to a named outcome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Value pool map: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Five departments and task-volume estimates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Value pool map with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to cluster recurring knowledge-work opportunities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Value pool map: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to cluster recurring knowledge-work opportunities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Keep only opportunities tied to a named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High-volume activity has no customer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Value pool map: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Five departments and task-volume estimates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High-volume activity has no customer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Keep only opportunities tied to a named outcome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Value pool map with owner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Value pool map: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Annual addressable hours by pool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Value pool map: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Value pool map with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Keep only opportunities tied to a named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High-volume activity has no customer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Annual addressable hours by pool; link source, reviewer and date.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sponsor: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Four competing leadership priorities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 sponsor brief in Word with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Sponsor decision and named accountable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Sponsor commits a review cadence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sponsor: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Four competing leadership priorities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Sponsor decision and named accountable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Draft a sponsor brief in Word with Copilot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sponsor: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a sponsor brief in Word with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Sponsor commits a review cadence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No executive owns the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sponsor: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Four competing leadership priorities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No executive owns the benefit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commits a review cadence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Sponsor decision and named accountable owner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sponsor: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Sponsor decisions closed on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sponsor: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Sponsor decision and named accountable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commits a review cadence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No executive owns the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Sponsor decisions closed on time; link source, reviewer and date.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Stakeholder alignment: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Sales, service, finance and risk concerns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Summarise the competing positions with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Stakeholder trade-off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Record dissent before selecting a pilot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Stakeholder alignment: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Sales, service, finance and risk concerns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Stakeholder trade-off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Summarise the competing positions with Copilot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Stakeholder alignment: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Summarise the competing positions with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Record dissent before selecting a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Risk concern is omitted from the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Stakeholder alignment: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Sales, service, finance and risk concerns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Risk concern is omitted from the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Record dissent before selecting a pilot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Stakeholder trade-off matrix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Stakeholder alignment: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Unresolved stakeholder objections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Stakeholder alignment: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Stakeholder trade-off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Record dissent before selecting a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Risk concern is omitted from the brief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Unresolved stakeholder objections; link source, reviewer and date.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Success definition: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Baseline cycle time and quality 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draft a result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Outcome scorecard with baseline and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Board accepts denominator and time window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Success definition: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Baseline cycle time and quality scores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Outcome scorecard with baseline and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to draft a result statement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Success definition: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draft a result statement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Board accepts denominator and time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Activity count is presented as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Success definition: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Baseline cycle time and quality scores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Activity count is presented as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Board accepts denominator and time window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Outcome scorecard with baseline and target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Success definition: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Target met on comparable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Success definition: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01 evidence: Outcome scorecard with baseline and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Board accepts denominator and time window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Activity count is presented as impact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Target met on comparable work; link source, reviewer and date.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Copilot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02: Copilot Chat decision brief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48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Five-point decision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Verify each material claim against the pack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Chat briefing: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board pack and policy extract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Chat for a sourced executive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Five-point decision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Verify each material claim against the pack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Chat briefing: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board pack and policy extract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Five-point decision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Chat for a sourced executive summary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Chat briefing: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Chat for a sourced executive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Verify each material claim against the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Plausible but unsupported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Chat briefing: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board pack and policy extract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Plausible but unsupported claim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Verify each material claim against the pack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Five-point decision brief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Chat briefing: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Supported claims divided by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Chat briefing: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Five-point decision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Verify each material claim against the pack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Plausible but unsupported claim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Supported claims divided by claims; link source, reviewer and date.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Question refinement: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broad request for better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Refine goal, context, constraints and format in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Reusable executive prompt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Prompt names audience and decision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Question refinement: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broad request for better 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Reusable executive prompt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Refine goal, context, constraints and format in Copilot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Question refinement: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Refine goal, context, constraints and format in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Prompt names audience and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Response is polished but irrelevant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Question refinement: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broad request for better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Response is polished but irrelevant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Prompt names audience and decision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Reusable executive prompt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Question refinement: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Decision-relevant points per answer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Question refinement: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Reusable executive prompt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Prompt names audience and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Response is polished but irrelevant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Decision-relevant points per answer; link source, reviewer and date.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challenge: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Two contradictory policy versions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to identify differences and uncertainty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Source conflict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Owner resolves the authoritative version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challenge: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Two contradictory policy 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Source conflict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to identify differences and uncertainty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challenge: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to identify differences and uncertainty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Owner resolves the authoritative 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Retired document becomes the basis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challenge: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Two contradictory policy versions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Retired document becomes the basis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Owner resolves the authoritative version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Source conflict register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challenge: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Current-source citation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challenge: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Source conflict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Owner resolves the authoritative version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Retired document becomes the basis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Current-source citation rate; link source, reviewer and date.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Scenario comparison: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service improvement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for assumptions and trade-offs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Option comparison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Compare options with the same criteria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Scenario comparison: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service improvement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Option comparison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for assumptions and trade-offs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Scenario comparison: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for assumptions and trade-offs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Compare options with the same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One option gets a favourable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Scenario comparison: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service improvement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One option gets a favourable metric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Compare options with the same criteria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Option comparison table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Scenario comparison: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Criteria applied to all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Scenario comparison: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Option comparison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Compare options with the same criteria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One option gets a favourable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Criteria applied to all options; link source, reviewer and date.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follow-up: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decision brief with open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list evidence gaps and owners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Follow-up action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No recommendation without missing facts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follow-up: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decision brief with open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Follow-up action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to list evidence gaps and owners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follow-up: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list evidence gaps and owners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No recommendation without missing 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Open question disappears from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follow-up: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decision brief with open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Open question disappears from summary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No recommendation without missing facts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Follow-up action register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follow-up: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Critical gaps assigned to owners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follow-up: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02 evidence: Follow-up action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No recommendation without missing facts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Open question disappears from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Critical gaps assigned to owners; link source, reviewer and date.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Word and PowerPoint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03: Board memo and story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79</a:t>
            </a:r>
          </a:p>
        </p:txBody>
      </p:sp>
      <p:pic>
        <p:nvPicPr>
          <p:cNvPr id="8" name="Picture 7" descr="executive-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Two-page strategy memo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Human executive signs the recommendation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strategy memo: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synthetic service improvement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 decision memo with Copilot in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Two-page strategy memo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Human executive signs the recommendation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strategy memo: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synthetic service improvement brief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Two-page strategy memo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Draft a decision memo with Copilot in Word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strategy memo: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a decision memo with Copilot in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Human executive signs the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Draft invents a savings 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strategy memo: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synthetic service improvement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Draft invents a savings figure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Human executive signs the recommendation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Two-page strategy memo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strategy memo: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Verified material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Word strategy memo: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Two-page strategy memo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Human executive signs the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Draft invents a savings figure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Verified material claims; link source, reviewer and date.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Recommendation logic: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options and a cost ceiling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to test the logic of a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Recommendation with assumptions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State rejected alternatives and rationale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Recommendation logic: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options and a cost ceiling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Recommendation with assumptions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to test the logic of a recommendation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Recommendation logic: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to test the logic of a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State rejected alternatives and rationale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Trade-off is hidden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Recommendation logic: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options and a cost ceiling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Trade-off is hidden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State rejected alternatives and rationale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Recommendation with assumptions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Recommendation logic: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Board questions answered with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Recommendation logic: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Recommendation with assumptions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State rejected alternatives and rationale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Trade-off is hidden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Board questions answered with evidence; link source, reviewer and date.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board story: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strategy memo and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Create a concise executive deck with Copilot in PowerPoint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Five-slide board narrative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Every chart traces to approved numbers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board story: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strategy memo and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Five-slide board narrative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Create a concise executive deck with Copilot in PowerPoint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board story: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Create a concise executive deck with Copilot in PowerPoint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Every chart traces to approved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Slide claims exceed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board story: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strategy memo and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Slide claims exceed the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Every chart traces to approved numbers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Five-slide board narrative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board story: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Figures verified before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PowerPoint board story: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Five-slide board narrative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Every chart traces to approved numbers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Slide claims exceed the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Figures verified before review; link source, reviewer and date.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appendix: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Risk and sensitivity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structure board Q&amp;A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Board appendix and question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Distinguish evidence from assumptions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appendix: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Risk and sensitivity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Board appendix and question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to structure board Q&amp;A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appendix: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structure board Q&amp;A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Distinguish evidence from assumptions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Appendix repeats unsupported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appendix: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Risk and sensitivity notes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Appendix repeats unsupported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Distinguish evidence from assumptions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Board appendix and question log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appendix: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Questions with grounded answers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appendix: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Board appendix and question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Distinguish evidence from assumptions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Appendix repeats unsupported claims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Questions with grounded answers; link source, reviewer and date.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MODEL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communication: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Approved board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 leader message with Copilot in Outlook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Change announcement for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No send until approved by sponsor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EVIDENCE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communication: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Approved board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Change announcement for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Draft a leader message with Copilot in Outlook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DECISION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communication: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a leader message with Copilot in Outlook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No send until approved by sponsor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Message promises unapproved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CASE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communication: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Approved board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Message promises unapproved outcomes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No send until approved by sponsor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Change announcement for review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FORMULA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communication: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Message comprehension in pilot survey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01 · GATE · NS-15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communication: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https://learn.microsoft.com/en-us/credentials/certifications/exams/ab-100/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03 evidence: Change announcement for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No send until approved by sponsor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Message promises unapproved outcomes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Message comprehension in pilot survey; link source, reviewer and date.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Copilot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04: Information and decision boundaries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110</a:t>
            </a:r>
          </a:p>
        </p:txBody>
      </p:sp>
      <p:pic>
        <p:nvPicPr>
          <p:cNvPr id="8" name="Picture 7" descr="executive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Data-use decision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Data owner approves permitted sources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Information boundary: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confidential account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Decide which content may be used with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Data-use decision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Data owner approves permitted sources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Information boundary: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confidential account file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Data-use decision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Decide which content may be used with Copilot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Information boundary: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Decide which content may be used with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Data owner approves permitted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Sensitive source is broadly shared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Information boundary: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confidential account 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Sensitive source is broadly shared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Data owner approves permitted sources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Data-use decision table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Information boundary: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Restricted exposures found in review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Information boundary: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Data-use decision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Data owner approves permitted sources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Sensitive source is broadly shared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Restricted exposures found in review; link source, reviewer and date.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Permission reality: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Two roles with different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Request the same summary under each approved identity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Access-test evidence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Security owner reviews unexpected access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Permission reality: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Two roles with different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Access-test evidence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Request the same summary under each approved identity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Permission reality: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Request the same summary under each approved identity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Security owner reviews unexpected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User receives material outside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Permission reality: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Two roles with different access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User receives material outside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Security owner reviews unexpected access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Access-test evidence record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Permission reality: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Unexpected accessible files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Permission reality: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Access-test evidence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Security owner reviews unexpected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User receives material outside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Unexpected accessible files; link source, reviewer and date.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reliability: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Current and retired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Copilot answer with authoritative source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Claim-verification worksheet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Reviewer checks every material statement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reliability: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Current and retired policies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Claim-verification worksheet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Compare Copilot answer with authoritative source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reliability: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Compare Copilot answer with authoritative source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Reviewer checks every material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Retired policy cited as 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reliability: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Current and retired policies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Retired policy cited as current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Reviewer checks every material statement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Claim-verification worksheet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reliability: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Supported claims divided by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Source reliability: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Claim-verification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Reviewer checks every material statement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Retired policy cited as current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Supported claims divided by claims; link source, reviewer and date.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approval: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external customer commitment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Assign a human approval point before release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Approval decision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Named owner signs external commitment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approval: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Draft external customer commitment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Approval decision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Assign a human approval point before release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approval: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Assign a human approval point before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Named owner signs external commitment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Copilot text is sent without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approval: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Draft external customer commitment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Copilot text is sent without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Named owner signs external commitment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Approval decision record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approval: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Unapproved external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Human approval: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Approval decision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Named owner signs external commitment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Copilot text is sent without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Unapproved external actions; link source, reviewer and date.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Responsible-use rule: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sensitive executive scenario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 plain-language use rule in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One-page responsible-use charter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Legal and risk owners approve wording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Responsible-use rule: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sensitive executive scenario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One-page responsible-use charter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Draft a plain-language use rule in Word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Responsible-use rule: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a plain-language use rule in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Legal and risk owners approve wording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Charter is too vague to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Responsible-use rule: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sensitive executive scenario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Charter is too vague to apply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Legal and risk owners approve wording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One-page responsible-use charter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Responsible-use rule: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Exceptions resolved within SLA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Responsible-use rule: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04 evidence: One-page responsible-use charter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Legal and risk owners approve wording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Charter is too vague to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Exceptions resolved within SLA; link source, reviewer and date.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05: Governance and assurance charter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141</a:t>
            </a:r>
          </a:p>
        </p:txBody>
      </p:sp>
      <p:pic>
        <p:nvPicPr>
          <p:cNvPr id="8" name="Picture 7" descr="executive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Risk-tier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High-impact uses require stronger review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Risk appetite: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Five use cases with different consequences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Rank harms, controls and owners with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Risk-tier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High-impact uses require stronger review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Risk appetite: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Five use cases with different consequences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Risk-tier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Rank harms, controls and owners with Copilot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Risk appetite: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Rank harms, controls and owners with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High-impact uses require stronger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All use cases share one weak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Risk appetite: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Five use cases with different consequences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All use cases share one weak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High-impact uses require stronger review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Risk-tier matrix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Risk appetite: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High-risk use cases with owner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Risk appetite: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Risk-tier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High-impact uses require stronger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All use cases share one weak 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High-risk use cases with owner; link source, reviewer and date.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disclosure near miss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to organise facts and response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Incident decision timeline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Security owner determines escalation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disclosure near miss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Incident decision timeline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to organise facts and response options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to organise facts and response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Security owner determines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Evidence is lost or blame is assigned 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disclosure near miss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Evidence is lost or blame is assigned early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Security owner determines escalation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Incident decision timeline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Time to containment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Incident response: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Incident decision timeline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Security owner determines escalation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Evidence is lost or blame is assigned early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Time to containment; link source, reviewer and date.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challenge: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Confident answer with two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as a critic, then verify manually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Red-team finding and correction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Release only after material errors corrected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challenge: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Confident answer with two errors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Red-team finding and correction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as a critic, then verify manually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challenge: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as a critic, then verify manually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Release only after material errors corrected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Fluent answer is treated as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challenge: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Confident answer with two errors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Fluent answer is treated as proof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Release only after material errors corrected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Red-team finding and correction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challenge: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Critical errors per review set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challenge: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Red-team finding and correction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Release only after material errors corrected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Fluent answer is treated as proof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Critical errors per review set; link source, reviewer and date.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Policy ownership: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Business, IT, legal and HR responsibilities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 RACI with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Governance RACI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No control lacks a decision owner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Policy ownership: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Business, IT, legal and HR responsibilities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Governance RACI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Draft a RACI with Copilot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Policy ownership: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a RACI with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No control lacks a decision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Everyone assumes IT owns content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Policy ownership: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Business, IT, legal and HR responsibilities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Everyone assumes IT owns content quality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No control lacks a decision owner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Governance RACI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Policy ownership: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Controls with named owners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Policy ownership: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Governance RACI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No control lacks a decision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Everyone assumes IT owns content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Controls with named owners; link source, reviewer and date.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MODEL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assurance: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results and unresolved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Summarise assurance evidence with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Board risk-and-control dashboard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Disclose unresolved material risks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EVIDENCE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assurance: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results and unresolved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Board risk-and-control dashboard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Summarise assurance evidence with Copilot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DECISION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assurance: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Summarise assurance evidence with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Disclose unresolved material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Green status masks a severe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CASE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assurance: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results and unresolved risks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Green status masks a severe issue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Disclose unresolved material risks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Board risk-and-control dashboard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FORMULA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assurance: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Critical issues overdue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02 · GATE · NS-25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assurance: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https://learn.microsoft.com/en-us/microsoft-365/copilot/copilot-controls/security-governance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05 evidence: Board risk-and-control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Disclose unresolved material risks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Green status masks a severe issue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Critical issues overdue; link source, reviewer and date.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Teams and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06: Executive meeting and communication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172</a:t>
            </a:r>
          </a:p>
        </p:txBody>
      </p:sp>
      <p:pic>
        <p:nvPicPr>
          <p:cNvPr id="8" name="Picture 7" descr="executive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Decision and action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Chair validates speaker and decision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meeting: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leadership meeting transcript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Teams to extract decisions and dissent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Decision and action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Chair validates speaker and decision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meeting: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leadership meeting transcript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Decision and action 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in Teams to extract decisions and dissent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meeting: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Teams to extract decisions and dissent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Chair validates speaker and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AI assigns an action to wrong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meeting: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leadership meeting transcript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AI assigns an action to wrong owner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Chair validates speaker and decision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Decision and action log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meeting: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Confirmed actions divided by extracted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meeting: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Decision and action 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Chair validates speaker and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AI assigns an action to wrong 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Confirmed actions divided by extracted; link source, reviewer and date.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decision flow: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crowded executive email 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Outlook to summarise asks and deadlines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Prioritised response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Executive reviews tone and commitments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decision flow: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crowded executive email thread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Prioritised response draft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in Outlook to summarise asks and deadlines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decision flow: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Outlook to summarise asks and deadlines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Executive reviews tone and commitments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Reply contains a false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decision flow: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crowded executive email thread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Reply contains a false promise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Executive reviews tone and commitments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Prioritised response draft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decision flow: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Decisions made before deadline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Outlook decision flow: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Prioritised response draft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Executive reviews tone and commitments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Reply contains a false promise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Decisions made before deadline; link source, reviewer and date.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Cross-functional handoff: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Service and finance joint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to map handoffs and delays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Future-state handoff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Keep accountable human at each gate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Cross-functional handoff: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Service and finance joint request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Future-state handoff map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to map handoffs and delays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Cross-functional handoff: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to map handoffs and delays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Keep accountable human at each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AI summary blurs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Cross-functional handoff: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Service and finance joint request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AI summary blurs ownership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Keep accountable human at each gate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Future-state handoff map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Cross-functional handoff: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Handoff time reduction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Cross-functional handoff: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Future-state handoff 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Keep accountable human at each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AI summary blurs 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Handoff time reduction; link source, reviewer and date.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integration choice: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Microsoft 365 and line-of-business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use-as-is, extend and build choices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Integration decision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Sponsor accepts cost and risk trade-off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integration choice: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Microsoft 365 and line-of-business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Integration decision 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Compare use-as-is, extend and build choices</a:t>
            </a: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integration choice: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Compare use-as-is, extend and build choices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Sponsor accepts cost and risk trade-off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Custom build is chosen without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integration choice: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Microsoft 365 and line-of-business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Custom build is chosen without need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accepts cost and risk trade-off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Integration decision card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integration choice: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Business fit score per option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Copilot integration choice: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Integration decision 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accepts cost and risk trade-off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Custom build is chosen without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Business fit score per option; link source, reviewer and date.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opportunity: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 repeatable policy-answer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Describe where a bounded agent may help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Agent opportunity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Do not automate irreversible decisions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opportunity: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 repeatable policy-answer task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Agent opportunity brief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Describe where a bounded agent may help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opportunity: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199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Describe where a bounded agent may help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Do not automate irreversible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Agent scope expands beyond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opportunity: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 repeatable policy-answer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Agent scope expands beyond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Do not automate irreversible decisions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Agent opportunity brief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opportunity: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In-scope resolution 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Agent opportunity: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06 evidence: Agent opportunity brief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Do not automate irreversible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Agent scope expands beyond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In-scope resolution rate; link source, reviewer and date.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Copilot Chat and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07: Integration and operating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203</a:t>
            </a:r>
          </a:p>
        </p:txBody>
      </p:sp>
      <p:pic>
        <p:nvPicPr>
          <p:cNvPr id="8" name="Picture 7" descr="executive-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Partner decision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Verify contractual and data claims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Vendor and partner review: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proposed AI service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structure a due-diligence checklist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Partner decision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Verify contractual and data claims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Vendor and partner review: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proposed AI service options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Partner decision matrix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to structure a due-diligence checklist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Vendor and partner review: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structure a due-diligence checklist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Verify contractual and data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Marketing claims become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Vendor and partner review: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proposed AI service options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Marketing claims become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Verify contractual and data claims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Partner decision matrix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Vendor and partner review: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Requirements with verified proof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Vendor and partner review: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Partner decision matrix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Verify contractual and data claims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Marketing claims become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Requirements with verified proof; link source, reviewer and date.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operating model: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30-seat cross-functional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roles, support and review cadence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operating charter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Sponsor, data owner and risk lead sign off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operating model: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30-seat cross-functional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Pilot operating charter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Draft roles, support and review cadence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operating model: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roles, support and review cadence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Sponsor, data owner and risk lead sign 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Pilot has licences but no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operating model: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30-seat cross-functional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Pilot has licences but no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Sponsor, data owner and risk lead sign off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Pilot operating charter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operating model: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Weekly active pilot users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Pilot operating model: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Pilot operating charter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Sponsor, data owner and risk lead sign off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Pilot has licences but no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Weekly active pilot users; link source, reviewer and date.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role modelling: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executive work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select visible leader practices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Leader demonstration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Leader shows reviewed outputs and limits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role modelling: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executive work patterns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Leader demonstration plan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to select visible leader practices</a:t>
            </a: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role modelling: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select visible leader practices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Leader shows reviewed outputs and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Leader promotes unverified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role modelling: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executive work patterns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Leader promotes unverified output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Leader shows reviewed outputs and limits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Leader demonstration plan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role modelling: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Leaders demonstrating weekly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Leadership role modelling: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Leader demonstration plan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Leader shows reviewed outputs and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Leader promotes unverified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Leaders demonstrating weekly; link source, reviewer and date.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Change communication: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Employee concerns and benefits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FAQ and manager briefing in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Change narrative and FAQ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Include limits and escalation route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Change communication: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Employee concerns and benefits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Change narrative and FAQ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Draft FAQ and manager briefing in Word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Change communication: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FAQ and manager briefing in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Include limits and escalation 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Message implies job replacement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Change communication: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Employee concerns and benefits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Message implies job replacement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Include limits and escalation route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Change narrative and FAQ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Change communication: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Employee understanding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Change communication: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Change narrative and FAQ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Include limits and escalation 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Message implies job replacement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Employee understanding score; link source, reviewer and date.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MODEL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escalation: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issue affecting customer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Map pause, fix and restart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Escalation playbook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Named sponsor owns pause decision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EVIDENCE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escalation: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issue affecting customer outcome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Escalation playbook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Map pause, fix and restart decisions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DECISION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escalation: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Map pause, fix and restart decisions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Named sponsor owns pause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Issue remains open while rollout expands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CASE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escalation: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issue affecting customer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Issue remains open while rollout expands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Named sponsor owns pause decision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Escalation playbook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FORMULA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escalation: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Median time to decision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03 · GATE · NS-35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Decision escalation: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https://support.microsoft.com/en-us/microsoft-365-copilot/get-started-writing-prompts-in-microsoft-365-copilot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07 evidence: Escalation playbook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Named sponsor owns pause decision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Issue remains open while rollout expands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Median time to decision; link source, reviewer and date.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Microsoft Copilot Chat and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08: Adoption and scale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234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Ranked opportunity portfolio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Reject ownerless or unsafe use case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Use-case portfolio: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Twelve candidate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Prioritise volume, value, feasibility and 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Ranked opportunity portfolio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Reject ownerless or unsafe use case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Use-case portfolio: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Twelve candidate workflows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Ranked opportunity portfolio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Prioritise volume, value, feasibility and risk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Use-case portfolio: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Prioritise volume, value, feasibility and 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Reject ownerless or unsafe use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Highest score hides weak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Use-case portfolio: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Twelve candidate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Highest score hides weak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Reject ownerless or unsafe use case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Ranked opportunity portfolio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Use-case portfolio: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Validated value per use case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Use-case portfolio: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Ranked opportunity portfolio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Reject ownerless or unsafe use case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Highest score hides weak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Validated value per use case; link source, reviewer and date.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baseline: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Usage by role and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active use with licensed seats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Adoption baseline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Separate sign-in from productive use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baseline: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Usage by role and department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Adoption baseline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Compare active use with licensed seats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baseline: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Compare active use with licensed seats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Separate sign-in from productive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Licence assignment counted as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baseline: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Usage by role and department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Licence assignment counted as adoption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Separate sign-in from productive use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Adoption baseline chart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baseline: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Weekly active users per cohort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Adoption baseline: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Adoption baseline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Separate sign-in from productive 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Licence assignment counted as adoption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Weekly active users per cohort; link source, reviewer and date.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Enablement design: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Three role-specific skill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to draft role-based coaching plans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90-day enablement calendar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Manager commits time for practice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Enablement design: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Three role-specific skill gaps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90-day enablement calendar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to draft role-based coaching plans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Enablement design: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to draft role-based coaching plans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Manager commits time for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One generic training suits no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Enablement design: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Three role-specific skill gaps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One generic training suits no 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Manager commits time for practice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90-day enablement calendar</a:t>
            </a:r>
          </a:p>
        </p:txBody>
      </p:sp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Enablement design: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Practice completion by 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Enablement design: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90-day enablement calendar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Manager commits time for practice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One generic training suits no 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Practice completion by role; link source, reviewer and date.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loop: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questions and complaints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Cluster feedback themes with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Prioritised improvement backlog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Assign owner and due date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loop: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questions and complaints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Prioritised improvement backlog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Cluster feedback themes with Copilot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loop: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Cluster feedback themes with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Assign owner and due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Prompt advice hides a source defect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loop: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questions and complaints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Prompt advice hides a source defect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Assign owner and due 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Prioritised improvement backlog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loop: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Median defect closure time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NS-39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Feedback loop: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Prioritised improvement backlog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Assign owner and due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Prompt advice hides a source defect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Median defect closure time; link source, reviewer and date.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Scale gate: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259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adoption, quality and risk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Prepare go, hold or stop recommendation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Wave-two decision paper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Every critical threshold passes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Scale gate: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adoption, quality and risk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Wave-two decision paper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Prepare go, hold or stop recommendation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Scale gate: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Prepare go, hold or stop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Every critical threshold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Average score hides a severe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Scale gate: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adoption, quality and risk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Average score hides a severe failure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Every critical threshold passes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Wave-two decision paper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Scale gate: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Criteria passed divided by required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Scale gate: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08 evidence: Wave-two decision paper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Every critical threshold passes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Average score hides a severe failure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Criteria passed divided by required; link source, reviewer and date.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Excel and Word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09: Investment and value case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265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Net time-saved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Review time is deducted from gross saving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value model: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Synthetic task time and cost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Excel to analyse observed changes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Net time-saved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Review time is deducted from gross saving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value model: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Synthetic task time and cost worksheet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Net time-saved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in Excel to analyse observed changes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value model: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Excel to analyse observed changes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Review time is deducted from gross saving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Gross saving is sold as net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value model: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269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Synthetic task time and cost worksheet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Gross saving is sold as net value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Review time is deducted from gross saving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Net time-saved table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value model: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Net minutes saved per task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Excel value model: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Net time-saved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Review time is deducted from gross saving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Gross saving is sold as net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Net minutes saved per task; link source, reviewer and date.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Benefit confidence: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Observed sample and management estimates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to label evidence strength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Benefit confidence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Assumption is never described as measured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Benefit confidence: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Observed sample and management estimates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Benefit confidence register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to label evidence strength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Benefit confidence: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to label evidence strength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Assumption is never described as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Weak sample is extrapolated widely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Benefit confidence: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Observed sample and management estimates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Weak sample is extrapolated widely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Assumption is never described as measured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Benefit confidence register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Benefit confidence: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Measured share of claimed value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Benefit confidence: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Benefit confidence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Assumption is never described as measured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Weak sample is extrapolated widely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Measured share of claimed value; link source, reviewer and date.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Cost of ownership: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Seats, enablement and support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compare total cost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Total-cost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Include recurring change and review effort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Cost of ownership: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279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Seats, enablement and support costs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Total-cost table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to compare total cost scenarios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Cost of ownership: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compare total cost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Include recurring change and review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License fee is the only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Cost of ownership: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Seats, enablement and support costs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License fee is the only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Include recurring change and review effort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Total-cost table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Cost of ownership: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Cost per realised outcome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Cost of ownership: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Total-cost 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Include recurring change and review effort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License fee is the only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Cost per realised outcome; link source, reviewer and date.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test: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Low, base and high adoption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to vary key assumptions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Sensitivity chart with break-even 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Decision holds under a credible downside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test: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Low, base and high adoption scenarios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Sensitivity chart with break-even point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to vary key assumptions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test: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to vary key assumptions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Decision holds under a credible downside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Single optimistic case drives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test: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Low, base and high adoption scenarios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Single optimistic case drives approval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Decision holds under a credible downside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Sensitivity chart with break-even point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test: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Break-even adoption 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Sensitivity test: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289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Sensitivity chart with break-even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Decision holds under a credible downside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Single optimistic case drives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Break-even adoption threshold; link source, reviewer and date.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Investment decision: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Value model and risk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Draft a balanced investment memo in Word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Fund, hold or stop recommendation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Sponsor signs conditions and budget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Investment decision: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Value model and risk register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Fund, hold or stop recommendation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Draft a balanced investment memo in Word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Investment decision: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Draft a balanced investment memo in 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Sponsor signs conditions and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Recommendation ignores risk-adjusted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Investment decision: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Value model and risk register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Recommendation ignores risk-adjusted cost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Sponsor signs conditions and budget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Fund, hold or stop recommendation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Investment decision: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Conditions met before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Investment decision: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09 evidence: Fund, hold or stop recommendation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Sponsor signs conditions and budget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Recommendation ignores risk-adjusted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Conditions met before release; link source, reviewer and date.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EXECUTIVE COPILOT PRACTICE · Copilot in PowerPoint and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Lab 10: Board scorecard and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296</a:t>
            </a:r>
          </a:p>
        </p:txBody>
      </p:sp>
      <p:pic>
        <p:nvPicPr>
          <p:cNvPr id="8" name="Picture 7" descr="executive-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37360"/>
            <a:ext cx="5120640" cy="2880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85800" y="1874519"/>
            <a:ext cx="5074920" cy="11430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Business outcome: Quality trend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429000"/>
            <a:ext cx="5074920" cy="13258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Human decision gate: Any critical safety failure blocks scale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scorecard: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Sample outputs and evidence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Summarise quality results with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Quality trend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Any critical safety failure blocks scale</a:t>
            </a:r>
          </a:p>
        </p:txBody>
      </p:sp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scorecard: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Sample outputs and evidence checks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Quality trend chart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Summarise quality results with Copilot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scorecard: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299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Summarise quality results with Copilot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Any critical safety failure blocks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Good average masks one severe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scorecard: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Sample outputs and evidence checks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Good average masks one severe error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Any critical safety failure blocks scale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Quality trend chart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scorecard: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Critical failures per sample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Quality scorecard: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Quality trend chart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Any critical safety failure blocks scale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Good average masks one severe error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Critical failures per sample; link source, reviewer and date.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Customer outcome: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Service response and satisfaction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Compare customer metrics before and after 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Customer-impact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Control for work mix and seasonality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Customer outcome: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Service response and satisfaction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Customer-impact summary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Compare customer metrics before and after pilot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Customer outcome: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Compare customer metrics before and after pilot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Control for work mix and seasonality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AI usage is mistaken for customer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Customer outcome: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Service response and satisfaction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AI usage is mistaken for customer benefit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Control for work mix and seasonality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Customer-impact summary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Customer outcome: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Comparable cycle-time change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Customer outcome: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Customer-impact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Control for work mix and seasonality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AI usage is mistaken for customer benefit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Comparable cycle-time change; link source, reviewer and date.</a:t>
            </a:r>
          </a:p>
        </p:txBody>
      </p:sp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reporting: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Adoption, value, quality and risk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in PowerPoint to draft a board update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One-page board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Every number has source and date</a:t>
            </a:r>
          </a:p>
        </p:txBody>
      </p:sp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reporting: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Adoption, value, quality and risk 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One-page board scorecard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in PowerPoint to draft a board update</a:t>
            </a:r>
          </a:p>
        </p:txBody>
      </p:sp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reporting: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in PowerPoint to draft a board update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Every number has source and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Board pack hides uncertainty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reporting: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Adoption, value, quality and risk metrics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Board pack hides uncertainty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Every number has source and date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One-page board scorecard</a:t>
            </a:r>
          </a:p>
        </p:txBody>
      </p:sp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reporting: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Claims with traceable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Board reporting: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One-page board scorecard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Every number has source and date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Board pack hides uncertainty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Claims with traceable evidence; link source, reviewer and date.</a:t>
            </a:r>
          </a:p>
        </p:txBody>
      </p:sp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Next-quarter roadmap: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Pilot findings and capacity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Ask Copilot to sequence the next three waves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90-day roadmap with gates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Each wave has owner and stop rule</a:t>
            </a:r>
          </a:p>
        </p:txBody>
      </p:sp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Next-quarter roadmap: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Pilot findings and capacity limits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90-day roadmap with gates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Ask Copilot to sequence the next three waves</a:t>
            </a:r>
          </a:p>
        </p:txBody>
      </p:sp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Next-quarter roadmap: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Ask Copilot to sequence the next three waves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Each wave has owner and stop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Scale outruns governance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Next-quarter roadmap: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Pilot findings and capacity limits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Scale outruns governance capacity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Each wave has owner and stop rule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90-day roadmap with gates</a:t>
            </a:r>
          </a:p>
        </p:txBody>
      </p:sp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Next-quarter roadmap: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Wave gates met on schedule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Next-quarter roadmap: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90-day roadmap with gates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Each wave has owner and stop rule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Scale outruns governance capacity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Wave gates met on schedule; link source, reviewer and date.</a:t>
            </a:r>
          </a:p>
        </p:txBody>
      </p:sp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MODEL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decision rehearsal: decision model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Board challenge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2148840"/>
            <a:ext cx="3246120" cy="12801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Use Copilot to surface counterarguments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2148840"/>
            <a:ext cx="3246120" cy="12801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Final go, hold or stop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04487" y="2788920"/>
            <a:ext cx="557785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44968" y="2788920"/>
            <a:ext cx="55778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011680" y="4160520"/>
            <a:ext cx="8183879" cy="7772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600" b="0">
                <a:solidFill>
                  <a:srgbClr val="161B26"/>
                </a:solidFill>
                <a:latin typeface="Arial"/>
              </a:defRPr>
            </a:pPr>
            <a:r>
              <a:t>Executive decision gate: Executive states assumptions and dissent</a:t>
            </a:r>
          </a:p>
        </p:txBody>
      </p:sp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EVIDENCE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decision rehearsal: worked business artifact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Arial"/>
              </a:defRPr>
            </a:pPr>
            <a:r>
              <a:t>SYNTHETIC NORTHSTAR SERVICE WORKED ARTIFACT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5212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INPUT RECORD  |  Board challenge questions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240280"/>
            <a:ext cx="5212080" cy="10972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OUTPUT RECORD  |  Final go, hold or stop record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2743200"/>
            <a:ext cx="50292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3886200"/>
            <a:ext cx="10927080" cy="10972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0">
                <a:solidFill>
                  <a:srgbClr val="161B26"/>
                </a:solidFill>
                <a:latin typeface="Arial"/>
              </a:defRPr>
            </a:pPr>
            <a:r>
              <a:t>Transformation rule  |  Use Copilot to surface counterarguments</a:t>
            </a:r>
          </a:p>
        </p:txBody>
      </p:sp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DECISION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decision rehearsal: executive review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5029200" cy="105156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COPILOT USE  |  Use Copilot to surface counterarguments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28800"/>
            <a:ext cx="5029200" cy="10515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LEADER REVIEW  |  Executive states assumptions and dissent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29000"/>
            <a:ext cx="10561320" cy="105156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CHALLENGE  |  Decision is made on a polished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Evidence to retain: source · assumption · owner · decision · outcome</a:t>
            </a:r>
          </a:p>
        </p:txBody>
      </p:sp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CASE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decision rehearsal: challenge scenario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874519"/>
            <a:ext cx="306324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Trigger</a:t>
            </a:r>
            <a:br/>
            <a:r>
              <a:t>Board challenge questions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874519"/>
            <a:ext cx="3063240" cy="141732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Observed failure</a:t>
            </a:r>
            <a:br/>
            <a:r>
              <a:t>Decision is made on a polished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874519"/>
            <a:ext cx="306324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Corrective gate</a:t>
            </a:r>
            <a:br/>
            <a:r>
              <a:t>Executive states assumptions and dissent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858768" y="2560320"/>
            <a:ext cx="649224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07808" y="2560320"/>
            <a:ext cx="649223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508760" y="4206240"/>
            <a:ext cx="9144000" cy="82296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0">
                <a:solidFill>
                  <a:srgbClr val="161B26"/>
                </a:solidFill>
                <a:latin typeface="Arial"/>
              </a:defRPr>
            </a:pPr>
            <a:r>
              <a:t>Retest on the same input and verify: Final go, hold or stop record</a:t>
            </a:r>
          </a:p>
        </p:txBody>
      </p:sp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FORMULA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decision rehearsal: outcome measure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783080"/>
            <a:ext cx="10698480" cy="9144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900" b="1">
                <a:solidFill>
                  <a:srgbClr val="161B26"/>
                </a:solidFill>
                <a:latin typeface="Arial"/>
              </a:defRPr>
            </a:pPr>
            <a:r>
              <a:t>MEASURE  |  Decision quality rubric score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BASELINE</a:t>
            </a:r>
            <a:br/>
            <a:r>
              <a:t>Same task and cohort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3063240"/>
            <a:ext cx="3246120" cy="12344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PILOT</a:t>
            </a:r>
            <a:br/>
            <a:r>
              <a:t>Record reviewed result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3063240"/>
            <a:ext cx="3246120" cy="123444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700" b="1">
                <a:solidFill>
                  <a:srgbClr val="161B26"/>
                </a:solidFill>
                <a:latin typeface="Arial"/>
              </a:defRPr>
            </a:pPr>
            <a:r>
              <a:t>COMPARISON</a:t>
            </a:r>
            <a:br/>
            <a:r>
              <a:t>Apply stated measure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99592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44968" y="3675887"/>
            <a:ext cx="457200" cy="0"/>
          </a:xfrm>
          <a:prstGeom prst="line">
            <a:avLst/>
          </a:prstGeom>
          <a:ln w="2540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463040" y="4709160"/>
            <a:ext cx="9235440" cy="7315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0">
                <a:solidFill>
                  <a:srgbClr val="161B26"/>
                </a:solidFill>
                <a:latin typeface="Arial"/>
              </a:defRPr>
            </a:pPr>
            <a:r>
              <a:t>Evidence rule: same denominator, time window and task mix; label assumptions.</a:t>
            </a:r>
          </a:p>
        </p:txBody>
      </p:sp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TOPIC 04 · GATE · NS-50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Executive decision rehearsal: go or hold gate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144768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5B6372"/>
                </a:solidFill>
                <a:latin typeface="Arial"/>
              </a:defRPr>
            </a:pPr>
            <a:r>
              <a:t>Source: https://learn.microsoft.com/en-us/microsoft-365/copilot/copilot-control-system/measurement-reporting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98480" cy="91440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Lab 10 evidence: Final go, hold or stop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137160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PASS  |  Executive states assumptions and dissent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3200400"/>
            <a:ext cx="5166360" cy="1371600"/>
          </a:xfrm>
          <a:prstGeom prst="roundRect">
            <a:avLst/>
          </a:prstGeom>
          <a:solidFill>
            <a:srgbClr val="FFF0F0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FAIL  |  Decision is made on a polished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983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61B26"/>
                </a:solidFill>
                <a:latin typeface="Arial"/>
              </a:defRPr>
            </a:pPr>
            <a:r>
              <a:t>Acceptance record: Decision quality rubric score; link source, reviewer and date.</a:t>
            </a:r>
          </a:p>
        </p:txBody>
      </p:sp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reminder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20240"/>
            <a:ext cx="5212080" cy="15544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Written SAQ</a:t>
            </a:r>
            <a:br/>
            <a:r>
              <a:t>3 open-ended questions · 60 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20240"/>
            <a:ext cx="5212080" cy="155448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000" b="1">
                <a:solidFill>
                  <a:srgbClr val="161B26"/>
                </a:solidFill>
                <a:latin typeface="Arial"/>
              </a:defRPr>
            </a:pPr>
            <a:r>
              <a:t>Practical PP</a:t>
            </a:r>
            <a:br/>
            <a:r>
              <a:t>4 artifacts · 60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977639"/>
            <a:ext cx="9418320" cy="86868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0">
                <a:solidFill>
                  <a:srgbClr val="161B26"/>
                </a:solidFill>
                <a:latin typeface="Arial"/>
              </a:defRPr>
            </a:pPr>
            <a:r>
              <a:t>Record source, test result and assessor decision for each outcome.</a:t>
            </a:r>
          </a:p>
        </p:txBody>
      </p:sp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Assessment flow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01</a:t>
            </a:r>
            <a:br/>
            <a:r>
              <a:t>TRAQOM attendance</a:t>
            </a:r>
          </a:p>
        </p:txBody>
      </p:sp>
      <p:sp>
        <p:nvSpPr>
          <p:cNvPr id="9" name="Chevron 8"/>
          <p:cNvSpPr/>
          <p:nvPr/>
        </p:nvSpPr>
        <p:spPr>
          <a:xfrm>
            <a:off x="2596896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3784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02</a:t>
            </a:r>
            <a:br/>
            <a:r>
              <a:t>Assessment digital attendance</a:t>
            </a:r>
          </a:p>
        </p:txBody>
      </p:sp>
      <p:sp>
        <p:nvSpPr>
          <p:cNvPr id="11" name="Chevron 10"/>
          <p:cNvSpPr/>
          <p:nvPr/>
        </p:nvSpPr>
        <p:spPr>
          <a:xfrm>
            <a:off x="4937760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84648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03</a:t>
            </a:r>
            <a:br/>
            <a:r>
              <a:t>WA then PP</a:t>
            </a:r>
          </a:p>
        </p:txBody>
      </p:sp>
      <p:sp>
        <p:nvSpPr>
          <p:cNvPr id="13" name="Chevron 12"/>
          <p:cNvSpPr/>
          <p:nvPr/>
        </p:nvSpPr>
        <p:spPr>
          <a:xfrm>
            <a:off x="7278624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525512" y="2468880"/>
            <a:ext cx="205740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04</a:t>
            </a:r>
            <a:br/>
            <a:r>
              <a:t>LMS submission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9619488" y="2926080"/>
            <a:ext cx="228600" cy="411480"/>
          </a:xfrm>
          <a:prstGeom prst="chevron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866376" y="2468880"/>
            <a:ext cx="205740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500" b="1">
                <a:solidFill>
                  <a:srgbClr val="161B26"/>
                </a:solidFill>
                <a:latin typeface="Arial"/>
              </a:defRPr>
            </a:pPr>
            <a:r>
              <a:t>05</a:t>
            </a:r>
            <a:br/>
            <a:r>
              <a:t>Sign Assessment Summary Record</a:t>
            </a:r>
          </a:p>
        </p:txBody>
      </p:sp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 · TRAQOM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Final digital attendance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329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338328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Scan SSG QR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2286000"/>
            <a:ext cx="3383280" cy="141732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Confirm own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2286000"/>
            <a:ext cx="3383280" cy="1417320"/>
          </a:xfrm>
          <a:prstGeom prst="roundRect">
            <a:avLst/>
          </a:prstGeom>
          <a:solidFill>
            <a:srgbClr val="EDF5FF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800" b="1">
                <a:solidFill>
                  <a:srgbClr val="161B26"/>
                </a:solidFill>
                <a:latin typeface="Arial"/>
              </a:defRPr>
            </a:pPr>
            <a:r>
              <a:t>Resolve discrepancy with trainer</a:t>
            </a:r>
          </a:p>
        </p:txBody>
      </p:sp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COURSE CLOSE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0642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61B26"/>
                </a:solidFill>
                <a:latin typeface="Arial"/>
              </a:defRPr>
            </a:pPr>
            <a:r>
              <a:t>Thank you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426464"/>
            <a:ext cx="11155680" cy="0"/>
          </a:xfrm>
          <a:prstGeom prst="line">
            <a:avLst/>
          </a:prstGeom>
          <a:ln w="25400">
            <a:solidFill>
              <a:srgbClr val="1F6F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54710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AI Transformation with Microsoft Copilot · TGS-2024044051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654710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© 2026 Tertiary Infotech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457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B6372"/>
                </a:solidFill>
                <a:latin typeface="Arial"/>
              </a:defRPr>
            </a:pPr>
            <a:r>
              <a:t>330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8720" y="2103120"/>
            <a:ext cx="9784080" cy="1463040"/>
          </a:xfrm>
          <a:prstGeom prst="roundRect">
            <a:avLst/>
          </a:prstGeom>
          <a:solidFill>
            <a:srgbClr val="ECFAF4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2300" b="1">
                <a:solidFill>
                  <a:srgbClr val="161B26"/>
                </a:solidFill>
                <a:latin typeface="Arial"/>
              </a:defRPr>
            </a:pPr>
            <a:r>
              <a:t>Submit your evidence portfolio and record the next decision owner.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